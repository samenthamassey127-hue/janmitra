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9966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59E0B"/>
                </a:solidFill>
              </a:defRPr>
            </a:pPr>
            <a:r>
              <a:t>CIVIC-TECH INNOVATION  •  INDIA / UTTAR PRADESH</a:t>
            </a:r>
          </a:p>
          <a:p>
            <a:pPr>
              <a:spcBef>
                <a:spcPts val="1200"/>
              </a:spcBef>
              <a:defRPr sz="4600" b="1">
                <a:solidFill>
                  <a:srgbClr val="FFFFFF"/>
                </a:solidFill>
              </a:defRPr>
            </a:pPr>
            <a:r>
              <a:t>JanMitra (जनमित्र)</a:t>
            </a:r>
          </a:p>
          <a:p>
            <a:pPr>
              <a:spcBef>
                <a:spcPts val="600"/>
              </a:spcBef>
              <a:defRPr sz="2000">
                <a:solidFill>
                  <a:srgbClr val="BFDBFE"/>
                </a:solidFill>
              </a:defRPr>
            </a:pPr>
            <a:r>
              <a:t>“Understand. Discover. Apply.”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4114800"/>
            <a:ext cx="9966960" cy="1645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425196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THE CORE PHILOSOPHY</a:t>
            </a:r>
          </a:p>
          <a:p>
            <a:pPr>
              <a:spcBef>
                <a:spcPts val="600"/>
              </a:spcBef>
              <a:defRPr sz="1800" b="1">
                <a:solidFill>
                  <a:srgbClr val="FFFFFF"/>
                </a:solidFill>
              </a:defRPr>
            </a:pPr>
            <a:r>
              <a:t>“Citizens should not need to understand the architecture of government in order to access government services.”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97706"/>
                </a:solidFill>
              </a:defRPr>
            </a:pPr>
            <a:r>
              <a:t>THE CITIZEN CHALLENGE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The Administrative Labyrinth Facing Citizens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64748B"/>
                </a:solidFill>
              </a:defRPr>
            </a:pPr>
            <a:r>
              <a:t>Why millions of eligible Indians miss out on vital welfare entitlements every year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JanMitra: Understand. Discover. Apply.  |  Slide 2 of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5120640" cy="18288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4572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B91C1C"/>
                </a:solidFill>
              </a:defRPr>
            </a:pPr>
            <a:r>
              <a:t>01. The Portal Maze</a:t>
            </a:r>
          </a:p>
          <a:p>
            <a:pPr>
              <a:spcBef>
                <a:spcPts val="600"/>
              </a:spcBef>
              <a:defRPr sz="1200">
                <a:solidFill>
                  <a:srgbClr val="64748B"/>
                </a:solidFill>
              </a:defRPr>
            </a:pPr>
            <a:r>
              <a:t>Over 1,500+ central &amp; state schemes exist, but portals require knowing exact scheme acronyms, departments, and gazette titles before searching.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920240"/>
            <a:ext cx="5120640" cy="18288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2103120"/>
            <a:ext cx="4572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B91C1C"/>
                </a:solidFill>
              </a:defRPr>
            </a:pPr>
            <a:r>
              <a:t>02. Dense Jargon Barrier</a:t>
            </a:r>
          </a:p>
          <a:p>
            <a:pPr>
              <a:spcBef>
                <a:spcPts val="600"/>
              </a:spcBef>
              <a:defRPr sz="1200">
                <a:solidFill>
                  <a:srgbClr val="64748B"/>
                </a:solidFill>
              </a:defRPr>
            </a:pPr>
            <a:r>
              <a:t>Official circulars and notifications use complex administrative legalese (affidavits, revenue codes) that intimidate rural &amp; first-time digital users.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023360"/>
            <a:ext cx="5120640" cy="18288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206240"/>
            <a:ext cx="4572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B91C1C"/>
                </a:solidFill>
              </a:defRPr>
            </a:pPr>
            <a:r>
              <a:t>03. Document Dead-Ends</a:t>
            </a:r>
          </a:p>
          <a:p>
            <a:pPr>
              <a:spcBef>
                <a:spcPts val="600"/>
              </a:spcBef>
              <a:defRPr sz="1200">
                <a:solidFill>
                  <a:srgbClr val="64748B"/>
                </a:solidFill>
              </a:defRPr>
            </a:pPr>
            <a:r>
              <a:t>A citizen applies for Scheme A, only to be rejected weeks later because it secretly required Certificate B, which required Lekhpal inquiry C.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4023360"/>
            <a:ext cx="5120640" cy="18288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4206240"/>
            <a:ext cx="4572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B91C1C"/>
                </a:solidFill>
              </a:defRPr>
            </a:pPr>
            <a:r>
              <a:t>04. The Hallucination Deficit</a:t>
            </a:r>
          </a:p>
          <a:p>
            <a:pPr>
              <a:spcBef>
                <a:spcPts val="600"/>
              </a:spcBef>
              <a:defRPr sz="1200">
                <a:solidFill>
                  <a:srgbClr val="64748B"/>
                </a:solidFill>
              </a:defRPr>
            </a:pPr>
            <a:r>
              <a:t>Generic AI chatbots invent non-existent government URLs, hallucinate eligibility criteria, and lack verifiable statutory proof.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97706"/>
                </a:solidFill>
              </a:defRPr>
            </a:pPr>
            <a:r>
              <a:t>THE PARADIGM SHIFT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From 'Which Scheme?' to 'What Are You Trying to Do?'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64748B"/>
                </a:solidFill>
              </a:defRPr>
            </a:pPr>
            <a:r>
              <a:t>Flipping government service discovery around the citizen's lived reality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JanMitra: Understand. Discover. Apply.  |  Slide 3 of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5120640" cy="4114800"/>
          </a:xfrm>
          <a:prstGeom prst="roundRect">
            <a:avLst/>
          </a:prstGeom>
          <a:solidFill>
            <a:srgbClr val="FEF2F2"/>
          </a:solidFill>
          <a:ln>
            <a:solidFill>
              <a:srgbClr val="FCA5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B91C1C"/>
                </a:solidFill>
              </a:defRPr>
            </a:pPr>
            <a:r>
              <a:t>TRADITIONAL GOV PORTAL</a:t>
            </a:r>
          </a:p>
          <a:p>
            <a:pPr>
              <a:spcBef>
                <a:spcPts val="400"/>
              </a:spcBef>
              <a:defRPr sz="1800" b="1">
                <a:solidFill>
                  <a:srgbClr val="0F172A"/>
                </a:solidFill>
              </a:defRPr>
            </a:pPr>
            <a:r>
              <a:t>Expects Citizen to Know:</a:t>
            </a:r>
          </a:p>
          <a:p>
            <a:pPr>
              <a:spcBef>
                <a:spcPts val="600"/>
              </a:spcBef>
              <a:defRPr sz="1200">
                <a:solidFill>
                  <a:srgbClr val="991B1B"/>
                </a:solidFill>
              </a:defRPr>
            </a:pPr>
            <a:r>
              <a:t>✗  The exact official scheme name (e.g. MMYSY, NFSA, PMAY-G)</a:t>
            </a:r>
          </a:p>
          <a:p>
            <a:pPr>
              <a:spcBef>
                <a:spcPts val="600"/>
              </a:spcBef>
              <a:defRPr sz="1200">
                <a:solidFill>
                  <a:srgbClr val="991B1B"/>
                </a:solidFill>
              </a:defRPr>
            </a:pPr>
            <a:r>
              <a:t>✗  Which specific department administers it</a:t>
            </a:r>
          </a:p>
          <a:p>
            <a:pPr>
              <a:spcBef>
                <a:spcPts val="600"/>
              </a:spcBef>
              <a:defRPr sz="1200">
                <a:solidFill>
                  <a:srgbClr val="991B1B"/>
                </a:solidFill>
              </a:defRPr>
            </a:pPr>
            <a:r>
              <a:t>✗  Which application form code to download</a:t>
            </a:r>
          </a:p>
          <a:p>
            <a:pPr>
              <a:spcBef>
                <a:spcPts val="600"/>
              </a:spcBef>
              <a:defRPr sz="1200">
                <a:solidFill>
                  <a:srgbClr val="991B1B"/>
                </a:solidFill>
              </a:defRPr>
            </a:pPr>
            <a:r>
              <a:t>✗  Which URL portal handles submissions</a:t>
            </a:r>
          </a:p>
          <a:p>
            <a:pPr>
              <a:spcBef>
                <a:spcPts val="600"/>
              </a:spcBef>
              <a:defRPr sz="1200">
                <a:solidFill>
                  <a:srgbClr val="991B1B"/>
                </a:solidFill>
              </a:defRPr>
            </a:pPr>
            <a:r>
              <a:t>✗  The underlying government hierarchy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920240"/>
            <a:ext cx="5212080" cy="4114800"/>
          </a:xfrm>
          <a:prstGeom prst="roundRect">
            <a:avLst/>
          </a:prstGeom>
          <a:solidFill>
            <a:srgbClr val="F0FDF4"/>
          </a:solidFill>
          <a:ln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103120"/>
            <a:ext cx="46634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59669"/>
                </a:solidFill>
              </a:defRPr>
            </a:pPr>
            <a:r>
              <a:t>JANMITRA CITIZEN NAVIGATOR</a:t>
            </a:r>
          </a:p>
          <a:p>
            <a:pPr>
              <a:spcBef>
                <a:spcPts val="400"/>
              </a:spcBef>
              <a:defRPr sz="1800" b="1">
                <a:solidFill>
                  <a:srgbClr val="0F172A"/>
                </a:solidFill>
              </a:defRPr>
            </a:pPr>
            <a:r>
              <a:t>Starts with Citizen's Life Situation:</a:t>
            </a:r>
          </a:p>
          <a:p>
            <a:pPr>
              <a:spcBef>
                <a:spcPts val="600"/>
              </a:spcBef>
              <a:defRPr sz="1200">
                <a:solidFill>
                  <a:srgbClr val="166534"/>
                </a:solidFill>
              </a:defRPr>
            </a:pPr>
            <a:r>
              <a:t>✓  “I am a 20yr B.Tech student in Lucknow needing fee help”</a:t>
            </a:r>
          </a:p>
          <a:p>
            <a:pPr>
              <a:spcBef>
                <a:spcPts val="600"/>
              </a:spcBef>
              <a:defRPr sz="1200">
                <a:solidFill>
                  <a:srgbClr val="166534"/>
                </a:solidFill>
              </a:defRPr>
            </a:pPr>
            <a:r>
              <a:t>✓  “My elderly parent is retired and needs monthly support”</a:t>
            </a:r>
          </a:p>
          <a:p>
            <a:pPr>
              <a:spcBef>
                <a:spcPts val="600"/>
              </a:spcBef>
              <a:defRPr sz="1200">
                <a:solidFill>
                  <a:srgbClr val="166534"/>
                </a:solidFill>
              </a:defRPr>
            </a:pPr>
            <a:r>
              <a:t>✓  “I need an official Income Certificate for college”</a:t>
            </a:r>
          </a:p>
          <a:p>
            <a:pPr>
              <a:spcBef>
                <a:spcPts val="600"/>
              </a:spcBef>
              <a:defRPr sz="1200">
                <a:solidFill>
                  <a:srgbClr val="166534"/>
                </a:solidFill>
              </a:defRPr>
            </a:pPr>
            <a:r>
              <a:t>✓  Extracts editable demographic attribute chips automatically</a:t>
            </a:r>
          </a:p>
          <a:p>
            <a:pPr>
              <a:spcBef>
                <a:spcPts val="600"/>
              </a:spcBef>
              <a:defRPr sz="1200">
                <a:solidFill>
                  <a:srgbClr val="166534"/>
                </a:solidFill>
              </a:defRPr>
            </a:pPr>
            <a:r>
              <a:t>✓  Generates evidence-backed action roadmap with 0 guesswork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97706"/>
                </a:solidFill>
              </a:defRPr>
            </a:pPr>
            <a:r>
              <a:t>FROM IDEA TO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The 8-Stage Fundamental Citizen Action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64748B"/>
                </a:solidFill>
              </a:defRPr>
            </a:pPr>
            <a:r>
              <a:t>Transforming ambiguous citizen life dilemmas into completed government sanctions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JanMitra: Understand. Discover. Apply.  |  Slide 4 of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2560320" cy="18288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21945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D97706"/>
                </a:solidFill>
              </a:defRPr>
            </a:pPr>
            <a:r>
              <a:t>STEP 01</a:t>
            </a:r>
          </a:p>
          <a:p>
            <a:pPr>
              <a:spcBef>
                <a:spcPts val="400"/>
              </a:spcBef>
              <a:defRPr sz="1500" b="1">
                <a:solidFill>
                  <a:srgbClr val="0F172A"/>
                </a:solidFill>
              </a:defRPr>
            </a:pPr>
            <a:r>
              <a:t>My Situation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</a:defRPr>
            </a:pPr>
            <a:r>
              <a:t>Everyday citizen words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920240"/>
            <a:ext cx="2560320" cy="18288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11880" y="2057400"/>
            <a:ext cx="21945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D97706"/>
                </a:solidFill>
              </a:defRPr>
            </a:pPr>
            <a:r>
              <a:t>STEP 02</a:t>
            </a:r>
          </a:p>
          <a:p>
            <a:pPr>
              <a:spcBef>
                <a:spcPts val="400"/>
              </a:spcBef>
              <a:defRPr sz="1500" b="1">
                <a:solidFill>
                  <a:srgbClr val="0F172A"/>
                </a:solidFill>
              </a:defRPr>
            </a:pPr>
            <a:r>
              <a:t>What Can I Get?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</a:defRPr>
            </a:pPr>
            <a:r>
              <a:t>Relevant benefits discovered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920240"/>
            <a:ext cx="2560320" cy="18288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2057400"/>
            <a:ext cx="21945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D97706"/>
                </a:solidFill>
              </a:defRPr>
            </a:pPr>
            <a:r>
              <a:t>STEP 03</a:t>
            </a:r>
          </a:p>
          <a:p>
            <a:pPr>
              <a:spcBef>
                <a:spcPts val="400"/>
              </a:spcBef>
              <a:defRPr sz="1500" b="1">
                <a:solidFill>
                  <a:srgbClr val="0F172A"/>
                </a:solidFill>
              </a:defRPr>
            </a:pPr>
            <a:r>
              <a:t>Why Qualify?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</a:defRPr>
            </a:pPr>
            <a:r>
              <a:t>Evidence-based rule match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23960" y="1920240"/>
            <a:ext cx="2560320" cy="18288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06840" y="2057400"/>
            <a:ext cx="21945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D97706"/>
                </a:solidFill>
              </a:defRPr>
            </a:pPr>
            <a:r>
              <a:t>STEP 04</a:t>
            </a:r>
          </a:p>
          <a:p>
            <a:pPr>
              <a:spcBef>
                <a:spcPts val="400"/>
              </a:spcBef>
              <a:defRPr sz="1500" b="1">
                <a:solidFill>
                  <a:srgbClr val="0F172A"/>
                </a:solidFill>
              </a:defRPr>
            </a:pPr>
            <a:r>
              <a:t>What Am I Missing?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</a:defRPr>
            </a:pPr>
            <a:r>
              <a:t>Clear identification of gaps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023360"/>
            <a:ext cx="2560320" cy="18288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160520"/>
            <a:ext cx="21945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D97706"/>
                </a:solidFill>
              </a:defRPr>
            </a:pPr>
            <a:r>
              <a:t>STEP 05</a:t>
            </a:r>
          </a:p>
          <a:p>
            <a:pPr>
              <a:spcBef>
                <a:spcPts val="400"/>
              </a:spcBef>
              <a:defRPr sz="1500" b="1">
                <a:solidFill>
                  <a:srgbClr val="0F172A"/>
                </a:solidFill>
              </a:defRPr>
            </a:pPr>
            <a:r>
              <a:t>What Docs Needed?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</a:defRPr>
            </a:pPr>
            <a:r>
              <a:t>Vault &amp; criteria audit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29000" y="4023360"/>
            <a:ext cx="2560320" cy="18288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1880" y="4160520"/>
            <a:ext cx="21945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D97706"/>
                </a:solidFill>
              </a:defRPr>
            </a:pPr>
            <a:r>
              <a:t>STEP 06</a:t>
            </a:r>
          </a:p>
          <a:p>
            <a:pPr>
              <a:spcBef>
                <a:spcPts val="400"/>
              </a:spcBef>
              <a:defRPr sz="1500" b="1">
                <a:solidFill>
                  <a:srgbClr val="0F172A"/>
                </a:solidFill>
              </a:defRPr>
            </a:pPr>
            <a:r>
              <a:t>How Do I Get Them?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</a:defRPr>
            </a:pPr>
            <a:r>
              <a:t>Direct service integration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0" y="4023360"/>
            <a:ext cx="2560320" cy="18288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4160520"/>
            <a:ext cx="21945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D97706"/>
                </a:solidFill>
              </a:defRPr>
            </a:pPr>
            <a:r>
              <a:t>STEP 07</a:t>
            </a:r>
          </a:p>
          <a:p>
            <a:pPr>
              <a:spcBef>
                <a:spcPts val="400"/>
              </a:spcBef>
              <a:defRPr sz="1500" b="1">
                <a:solidFill>
                  <a:srgbClr val="0F172A"/>
                </a:solidFill>
              </a:defRPr>
            </a:pPr>
            <a:r>
              <a:t>What Next?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</a:defRPr>
            </a:pPr>
            <a:r>
              <a:t>Immediate single next action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23960" y="4023360"/>
            <a:ext cx="2560320" cy="18288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06840" y="4160520"/>
            <a:ext cx="21945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D97706"/>
                </a:solidFill>
              </a:defRPr>
            </a:pPr>
            <a:r>
              <a:t>STEP 08</a:t>
            </a:r>
          </a:p>
          <a:p>
            <a:pPr>
              <a:spcBef>
                <a:spcPts val="400"/>
              </a:spcBef>
              <a:defRPr sz="1500" b="1">
                <a:solidFill>
                  <a:srgbClr val="0F172A"/>
                </a:solidFill>
              </a:defRPr>
            </a:pPr>
            <a:r>
              <a:t>Track Journey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</a:defRPr>
            </a:pPr>
            <a:r>
              <a:t>Status &amp; milestone logs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97706"/>
                </a:solidFill>
              </a:defRPr>
            </a:pPr>
            <a:r>
              <a:t>PRODUCT CAPABILITIES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Core Platform Features &amp; Intelligence Layer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64748B"/>
                </a:solidFill>
              </a:defRPr>
            </a:pPr>
            <a:r>
              <a:t>Engineered to deliver intuitive, accessible, and truthful citizen navigation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JanMitra: Understand. Discover. Apply.  |  Slide 5 of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42900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3063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E3A8A"/>
                </a:solidFill>
              </a:defRPr>
            </a:pPr>
            <a:r>
              <a:t>Conversational Discovery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</a:defRPr>
            </a:pPr>
            <a:r>
              <a:t>Extracts structured profile chips from plain human sentences. Progressive micro-questioning asks 1-2 missing parameters rather than long 15-question forms.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920240"/>
            <a:ext cx="342900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2057400"/>
            <a:ext cx="3063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E3A8A"/>
                </a:solidFill>
              </a:defRPr>
            </a:pPr>
            <a:r>
              <a:t>“What Am I Missing?” Feature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</a:defRPr>
            </a:pPr>
            <a:r>
              <a:t>One of JanMitra's most important capabilities: quantifies progress (e.g. 4/6 criteria met) and creates a 1-click bridge to obtain missing certificates.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0" y="1920240"/>
            <a:ext cx="342900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2057400"/>
            <a:ext cx="3063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E3A8A"/>
                </a:solidFill>
              </a:defRPr>
            </a:pPr>
            <a:r>
              <a:t>Government Service Navigator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</a:defRPr>
            </a:pPr>
            <a:r>
              <a:t>Deep-dive procedural timelines for public services (Aay Praman Patra, Niwas, Ration Card), covering exact fees (₹15), SLAs, and Lekhpal field checks.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023360"/>
            <a:ext cx="342900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160520"/>
            <a:ext cx="3063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E3A8A"/>
                </a:solidFill>
              </a:defRPr>
            </a:pPr>
            <a:r>
              <a:t>Document Intelligence Locker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</a:defRPr>
            </a:pPr>
            <a:r>
              <a:t>Digital vault storing credentials with status indicators (Available, Expired, Missing). Simulated OCR scan evaluates readiness without making false legal claims.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4023360"/>
            <a:ext cx="342900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4160520"/>
            <a:ext cx="3063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E3A8A"/>
                </a:solidFill>
              </a:defRPr>
            </a:pPr>
            <a:r>
              <a:t>“Explain This” AI Simplifier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</a:defRPr>
            </a:pPr>
            <a:r>
              <a:t>Converts dense gazette orders and circular clauses into: (1) Simple language, (2) Action checklist, (3) Common rejection traps, (4) Official source citation.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80" y="4023360"/>
            <a:ext cx="342900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0" y="4160520"/>
            <a:ext cx="3063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E3A8A"/>
                </a:solidFill>
              </a:defRPr>
            </a:pPr>
            <a:r>
              <a:t>Multilingual &amp; Accessible UX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</a:defRPr>
            </a:pPr>
            <a:r>
              <a:t>Seamless switching between English &amp; Hindi, voice input simulation, high-contrast readable cards, and mobile-first responsive architecture.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97706"/>
                </a:solidFill>
              </a:defRPr>
            </a:pPr>
            <a:r>
              <a:t>COMPETITIVE DIFFERENTIATOR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Why JanMitra Is Fundamentally Different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64748B"/>
                </a:solidFill>
              </a:defRPr>
            </a:pPr>
            <a:r>
              <a:t>Beyond generic AI chatbots and outdated government web portals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JanMitra: Understand. Discover. Apply.  |  Slide 6 of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5120640" cy="18288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4572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D97706"/>
                </a:solidFill>
              </a:defRPr>
            </a:pPr>
            <a:r>
              <a:t>Deterministic + LLM Hybrid</a:t>
            </a:r>
          </a:p>
          <a:p>
            <a:pPr>
              <a:spcBef>
                <a:spcPts val="600"/>
              </a:spcBef>
              <a:defRPr sz="1200">
                <a:solidFill>
                  <a:srgbClr val="64748B"/>
                </a:solidFill>
              </a:defRPr>
            </a:pPr>
            <a:r>
              <a:t>NOT a ChatGPT wrapper. Deterministic rule-scoring handles schemes, criteria, and fees with mathematical certainty; LLM handles natural language translation and explanation only.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920240"/>
            <a:ext cx="5120640" cy="18288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2103120"/>
            <a:ext cx="4572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D97706"/>
                </a:solidFill>
              </a:defRPr>
            </a:pPr>
            <a:r>
              <a:t>Evidence-First Provenance</a:t>
            </a:r>
          </a:p>
          <a:p>
            <a:pPr>
              <a:spcBef>
                <a:spcPts val="600"/>
              </a:spcBef>
              <a:defRPr sz="1200">
                <a:solidFill>
                  <a:srgbClr val="64748B"/>
                </a:solidFill>
              </a:defRPr>
            </a:pPr>
            <a:r>
              <a:t>Every procedural assertion is anchored to an official department, gazette notification number, and verified audit date with a “Why is JanMitra saying this?” inspection drawer.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023360"/>
            <a:ext cx="5120640" cy="18288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206240"/>
            <a:ext cx="4572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D97706"/>
                </a:solidFill>
              </a:defRPr>
            </a:pPr>
            <a:r>
              <a:t>Service Dependency Graph</a:t>
            </a:r>
          </a:p>
          <a:p>
            <a:pPr>
              <a:spcBef>
                <a:spcPts val="600"/>
              </a:spcBef>
              <a:defRPr sz="1200">
                <a:solidFill>
                  <a:srgbClr val="64748B"/>
                </a:solidFill>
              </a:defRPr>
            </a:pPr>
            <a:r>
              <a:t>Visual hierarchy mapping prerequisite chains (e.g., Scholarship -&gt; Income Certificate -&gt; Lekhpal Inquiry -&gt; Salary Slips) so citizens resolve roadblocks before applying.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4023360"/>
            <a:ext cx="5120640" cy="18288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4206240"/>
            <a:ext cx="4572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D97706"/>
                </a:solidFill>
              </a:defRPr>
            </a:pPr>
            <a:r>
              <a:t>Cautious Trust &amp; Safety UX</a:t>
            </a:r>
          </a:p>
          <a:p>
            <a:pPr>
              <a:spcBef>
                <a:spcPts val="600"/>
              </a:spcBef>
              <a:defRPr sz="1200">
                <a:solidFill>
                  <a:srgbClr val="64748B"/>
                </a:solidFill>
              </a:defRPr>
            </a:pPr>
            <a:r>
              <a:t>Never claims 'JanMitra approved you' or guarantees legal status. Uses transparent phrasing: 'Potentially eligible based on provided info. Authorities make final decisions.'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97706"/>
                </a:solidFill>
              </a:defRPr>
            </a:pPr>
            <a:r>
              <a:t>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Modern, Modular, and Privacy-Preserving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64748B"/>
                </a:solidFill>
              </a:defRPr>
            </a:pPr>
            <a:r>
              <a:t>Designed for extreme performance, zero server bottlenecks, and data sovereignty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JanMitra: Understand. Discover. Apply.  |  Slide 7 of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1069848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29968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E3A8A"/>
                </a:solidFill>
              </a:defRPr>
            </a:pPr>
            <a:r>
              <a:t>Frontend &amp; UI Engine:  </a:t>
            </a:r>
            <a:r>
              <a:rPr b="1">
                <a:solidFill>
                  <a:srgbClr val="D97706"/>
                </a:solidFill>
              </a:rPr>
              <a:t>React 18 + TypeScript + Vite + Tailwind CSS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Sub-second load times, accessible typography (Inter &amp; Noto Sans Devanagari), responsive mobile bottom navigation.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971800"/>
            <a:ext cx="1069848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081528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E3A8A"/>
                </a:solidFill>
              </a:defRPr>
            </a:pPr>
            <a:r>
              <a:t>Deterministic Matching Engine:  </a:t>
            </a:r>
            <a:r>
              <a:rPr b="1">
                <a:solidFill>
                  <a:srgbClr val="D97706"/>
                </a:solidFill>
              </a:rPr>
              <a:t>Custom TypeScript Rule Evaluator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Evaluates multi-variable eligibility rules (Age, Domicile, Income caps, Social Category, Land records) in real time.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023360"/>
            <a:ext cx="1069848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133088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E3A8A"/>
                </a:solidFill>
              </a:defRPr>
            </a:pPr>
            <a:r>
              <a:t>Explain &amp; Translation Layer:  </a:t>
            </a:r>
            <a:r>
              <a:rPr b="1">
                <a:solidFill>
                  <a:srgbClr val="D97706"/>
                </a:solidFill>
              </a:rPr>
              <a:t>Constrained Statutory NLP Models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Translates dense circular excerpts into 4-step human checklists with zero hallucination guardrails.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074920"/>
            <a:ext cx="1069848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184648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E3A8A"/>
                </a:solidFill>
              </a:defRPr>
            </a:pPr>
            <a:r>
              <a:t>Citizen Data Sovereignty:  </a:t>
            </a:r>
            <a:r>
              <a:rPr b="1">
                <a:solidFill>
                  <a:srgbClr val="D97706"/>
                </a:solidFill>
              </a:rPr>
              <a:t>Local-First Vault (LocalStorage + JSON Export)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Zero cloud tracking of citizen credentials. One-click JSON data export and total data wipe capabilities.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97706"/>
                </a:solidFill>
              </a:defRPr>
            </a:pPr>
            <a:r>
              <a:t>IMPLEMENTATION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Feasibility, Integration &amp; Scalability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64748B"/>
                </a:solidFill>
              </a:defRPr>
            </a:pPr>
            <a:r>
              <a:t>Phased deployment strategy from state pilot to nationwide citizen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JanMitra: Understand. Discover. Apply.  |  Slide 8 of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5120640" cy="18288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4572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59669"/>
                </a:solidFill>
              </a:defRPr>
            </a:pPr>
            <a:r>
              <a:t>Phase 1: Working Prototype (Current)</a:t>
            </a:r>
          </a:p>
          <a:p>
            <a:pPr>
              <a:spcBef>
                <a:spcPts val="600"/>
              </a:spcBef>
              <a:defRPr sz="1200">
                <a:solidFill>
                  <a:srgbClr val="64748B"/>
                </a:solidFill>
              </a:defRPr>
            </a:pPr>
            <a:r>
              <a:t>Completed high-fidelity system covering 12+ UP/Central schemes, 8+ public services, 16+ documents, and 4 test drive scenarios with zero build errors.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920240"/>
            <a:ext cx="5120640" cy="18288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2103120"/>
            <a:ext cx="4572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59669"/>
                </a:solidFill>
              </a:defRPr>
            </a:pPr>
            <a:r>
              <a:t>Phase 2: Digital Public Infrastructure (DPI)</a:t>
            </a:r>
          </a:p>
          <a:p>
            <a:pPr>
              <a:spcBef>
                <a:spcPts val="600"/>
              </a:spcBef>
              <a:defRPr sz="1200">
                <a:solidFill>
                  <a:srgbClr val="64748B"/>
                </a:solidFill>
              </a:defRPr>
            </a:pPr>
            <a:r>
              <a:t>Integrate with India Stack APIs: DigiLocker document fetch, UMANG public service registry, MeriPehchaan (National SSO), and UP eDistrict webhooks.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023360"/>
            <a:ext cx="5120640" cy="18288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206240"/>
            <a:ext cx="4572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59669"/>
                </a:solidFill>
              </a:defRPr>
            </a:pPr>
            <a:r>
              <a:t>Phase 3: Assisted Physical Access</a:t>
            </a:r>
          </a:p>
          <a:p>
            <a:pPr>
              <a:spcBef>
                <a:spcPts val="600"/>
              </a:spcBef>
              <a:defRPr sz="1200">
                <a:solidFill>
                  <a:srgbClr val="64748B"/>
                </a:solidFill>
              </a:defRPr>
            </a:pPr>
            <a:r>
              <a:t>Operator-assisted mode for Common Service Center (CSC) / Jan Seva Kendra operators and Village Development Officers (VDOs) at the Gram Panchayat level.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4023360"/>
            <a:ext cx="5120640" cy="18288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4206240"/>
            <a:ext cx="4572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59669"/>
                </a:solidFill>
              </a:defRPr>
            </a:pPr>
            <a:r>
              <a:t>Cost &amp; Infrastructure Scalability</a:t>
            </a:r>
          </a:p>
          <a:p>
            <a:pPr>
              <a:spcBef>
                <a:spcPts val="600"/>
              </a:spcBef>
              <a:defRPr sz="1200">
                <a:solidFill>
                  <a:srgbClr val="64748B"/>
                </a:solidFill>
              </a:defRPr>
            </a:pPr>
            <a:r>
              <a:t>Static edge-hosted architecture delivers near-zero server maintenance costs. Scalable to millions of concurrent citizens with sub-50ms latency.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97706"/>
                </a:solidFill>
              </a:defRPr>
            </a:pPr>
            <a:r>
              <a:t>TRANSFORMATIVE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Measurable Benefits for Citizens &amp; Administration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64748B"/>
                </a:solidFill>
              </a:defRPr>
            </a:pPr>
            <a:r>
              <a:t>Bridging the last-mile delivery gap between public intent and real-world benefit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JanMitra: Understand. Discover. Apply.  |  Slide 9 of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512064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4572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E3A8A"/>
                </a:solidFill>
              </a:defRPr>
            </a:pPr>
            <a:r>
              <a:t>70% Drop in Application Rejections</a:t>
            </a:r>
          </a:p>
          <a:p>
            <a:pPr>
              <a:spcBef>
                <a:spcPts val="600"/>
              </a:spcBef>
              <a:defRPr sz="1200">
                <a:solidFill>
                  <a:srgbClr val="64748B"/>
                </a:solidFill>
              </a:defRPr>
            </a:pPr>
            <a:r>
              <a:t>Pre-application checklist and prerequisite dependency checks ensure applications are filed with 100% compliant documents, eliminating Lekhpal query delays.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920240"/>
            <a:ext cx="512064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2103120"/>
            <a:ext cx="4572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E3A8A"/>
                </a:solidFill>
              </a:defRPr>
            </a:pPr>
            <a:r>
              <a:t>Dismantling the Information Asymmetry</a:t>
            </a:r>
          </a:p>
          <a:p>
            <a:pPr>
              <a:spcBef>
                <a:spcPts val="600"/>
              </a:spcBef>
              <a:defRPr sz="1200">
                <a:solidFill>
                  <a:srgbClr val="64748B"/>
                </a:solidFill>
              </a:defRPr>
            </a:pPr>
            <a:r>
              <a:t>Uncovers life-changing benefits (e.g. ₹5L PM-JAY health cover, ₹85k scholarship fee reimbursement, ₹1,000/mo pensions) that citizens never knew they were entitled to.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023360"/>
            <a:ext cx="512064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206240"/>
            <a:ext cx="4572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E3A8A"/>
                </a:solidFill>
              </a:defRPr>
            </a:pPr>
            <a:r>
              <a:t>Empowerment for Rural &amp; First-Time Users</a:t>
            </a:r>
          </a:p>
          <a:p>
            <a:pPr>
              <a:spcBef>
                <a:spcPts val="600"/>
              </a:spcBef>
              <a:defRPr sz="1200">
                <a:solidFill>
                  <a:srgbClr val="64748B"/>
                </a:solidFill>
              </a:defRPr>
            </a:pPr>
            <a:r>
              <a:t>Bilingual interfaces in Hindi and English with voice simulation make complex public administration intuitive for non-tech-savvy and rural citizens.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4023360"/>
            <a:ext cx="512064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4206240"/>
            <a:ext cx="4572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E3A8A"/>
                </a:solidFill>
              </a:defRPr>
            </a:pPr>
            <a:r>
              <a:t>Administrative Relief for Government</a:t>
            </a:r>
          </a:p>
          <a:p>
            <a:pPr>
              <a:spcBef>
                <a:spcPts val="600"/>
              </a:spcBef>
              <a:defRPr sz="1200">
                <a:solidFill>
                  <a:srgbClr val="64748B"/>
                </a:solidFill>
              </a:defRPr>
            </a:pPr>
            <a:r>
              <a:t>Reduces repetitive counter inquiries at Tehsils and Block Development Offices, streamlining public service delivery under the Right to Public Services Act.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9966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59E0B"/>
                </a:solidFill>
              </a:defRPr>
            </a:pPr>
            <a:r>
              <a:t>FROM IDEA TO IMPACT</a:t>
            </a:r>
          </a:p>
          <a:p>
            <a:pPr>
              <a:spcBef>
                <a:spcPts val="800"/>
              </a:spcBef>
              <a:defRPr sz="3600" b="1">
                <a:solidFill>
                  <a:srgbClr val="FFFFFF"/>
                </a:solidFill>
              </a:defRPr>
            </a:pPr>
            <a:r>
              <a:t>Transforming Public Welfare into an Everyday Reality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2926080"/>
            <a:ext cx="9966960" cy="1645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3108960"/>
            <a:ext cx="94183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FFFFF"/>
                </a:solidFill>
              </a:defRPr>
            </a:pPr>
            <a:r>
              <a:t>“When public services become as simple to understand as sending a text message, government welfare transforms from an elusive bureaucratic maze into a lived constitutional right for every citizen.”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93776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BFDBFE"/>
                </a:solidFill>
              </a:defRPr>
            </a:pPr>
            <a:r>
              <a:t>Explore the Live Interactive Prototype:  https://github.com/samenthamassey127-hue/JanMitra</a:t>
            </a:r>
          </a:p>
          <a:p>
            <a:pPr>
              <a:spcBef>
                <a:spcPts val="400"/>
              </a:spcBef>
              <a:defRPr sz="1100">
                <a:solidFill>
                  <a:srgbClr val="94A3B8"/>
                </a:solidFill>
              </a:defRPr>
            </a:pPr>
            <a:r>
              <a:t>JanMitra  •  Citizen-First Civic Intelligence  •  Ready for Pilot Testing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