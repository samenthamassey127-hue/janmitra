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097280"/>
            <a:ext cx="9966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59E0B"/>
                </a:solidFill>
              </a:defRPr>
            </a:pPr>
            <a:r>
              <a:t>CIVIC-TECH INNOVATION  •  INDIA &amp; UTTAR PRADESH PROTOTYPE</a:t>
            </a:r>
          </a:p>
          <a:p>
            <a:pPr>
              <a:spcBef>
                <a:spcPts val="800"/>
              </a:spcBef>
              <a:defRPr sz="4600" b="1">
                <a:solidFill>
                  <a:srgbClr val="FFFFFF"/>
                </a:solidFill>
              </a:defRPr>
            </a:pPr>
            <a:r>
              <a:t>JanMitra (जनमित्र)</a:t>
            </a:r>
          </a:p>
          <a:p>
            <a:pPr>
              <a:spcBef>
                <a:spcPts val="400"/>
              </a:spcBef>
              <a:defRPr sz="2000">
                <a:solidFill>
                  <a:srgbClr val="BFDBFE"/>
                </a:solidFill>
              </a:defRPr>
            </a:pPr>
            <a:r>
              <a:t>“Understand. Discover. Apply.”</a:t>
            </a:r>
          </a:p>
          <a:p>
            <a:pPr>
              <a:spcBef>
                <a:spcPts val="800"/>
              </a:spcBef>
              <a:defRPr sz="1400">
                <a:solidFill>
                  <a:srgbClr val="CBD5E1"/>
                </a:solidFill>
              </a:defRPr>
            </a:pPr>
            <a:r>
              <a:t>A personalized civic navigation platform that transforms everyday citizen problems into evidence-backed government action plans.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4297680"/>
            <a:ext cx="9966960" cy="1645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443484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THE CORE PRODUCT PHILOSOPHY</a:t>
            </a:r>
          </a:p>
          <a:p>
            <a:pPr>
              <a:spcBef>
                <a:spcPts val="600"/>
              </a:spcBef>
              <a:defRPr sz="1800" b="1">
                <a:solidFill>
                  <a:srgbClr val="FFFFFF"/>
                </a:solidFill>
              </a:defRPr>
            </a:pPr>
            <a:r>
              <a:t>“Citizens should not need to understand the architecture of government in order to access government services.”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7706"/>
                </a:solidFill>
              </a:defRPr>
            </a:pPr>
            <a:r>
              <a:t>THE CITIZEN CHALLENGE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The Reality of Accessing Government Welfare in India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Why billions in public welfare budgets remain unutilized by eligible citizens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JanMitra: Understand. Discover. Apply.  |  Slide 2 of 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120640" cy="1920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4572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B91C1C"/>
                </a:solidFill>
              </a:defRPr>
            </a:pPr>
            <a:r>
              <a:t>01. The Portal Maze (1,500+ Schemes)</a:t>
            </a:r>
          </a:p>
          <a:p>
            <a:pPr>
              <a:spcBef>
                <a:spcPts val="600"/>
              </a:spcBef>
              <a:defRPr sz="1150">
                <a:solidFill>
                  <a:srgbClr val="64748B"/>
                </a:solidFill>
              </a:defRPr>
            </a:pPr>
            <a:r>
              <a:t>Schemes are siloed across hundreds of separate department portals. Citizens must already know the scheme acronym (PMAY, MMYSY, NFSA) to search.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737360"/>
            <a:ext cx="5120640" cy="1920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4572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B91C1C"/>
                </a:solidFill>
              </a:defRPr>
            </a:pPr>
            <a:r>
              <a:t>02. Dense Administrative Legalese</a:t>
            </a:r>
          </a:p>
          <a:p>
            <a:pPr>
              <a:spcBef>
                <a:spcPts val="600"/>
              </a:spcBef>
              <a:defRPr sz="1150">
                <a:solidFill>
                  <a:srgbClr val="64748B"/>
                </a:solidFill>
              </a:defRPr>
            </a:pPr>
            <a:r>
              <a:t>Official circulars, affidavits, and gazette notices are written in dense bureaucratic prose that excludes first-time digital and rural citizens.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31920"/>
            <a:ext cx="5120640" cy="1920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4572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B91C1C"/>
                </a:solidFill>
              </a:defRPr>
            </a:pPr>
            <a:r>
              <a:t>03. Prerequisite Dead-Ends</a:t>
            </a:r>
          </a:p>
          <a:p>
            <a:pPr>
              <a:spcBef>
                <a:spcPts val="600"/>
              </a:spcBef>
              <a:defRPr sz="1150">
                <a:solidFill>
                  <a:srgbClr val="64748B"/>
                </a:solidFill>
              </a:defRPr>
            </a:pPr>
            <a:r>
              <a:t>A citizen applies for a scholarship or loan, only to face rejection weeks later because they lacked a prerequisite revenue certificate (e.g. Income or Domicile).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3931920"/>
            <a:ext cx="5120640" cy="1920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4114800"/>
            <a:ext cx="4572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B91C1C"/>
                </a:solidFill>
              </a:defRPr>
            </a:pPr>
            <a:r>
              <a:t>04. The Intermediary &amp; Hallucination Trap</a:t>
            </a:r>
          </a:p>
          <a:p>
            <a:pPr>
              <a:spcBef>
                <a:spcPts val="600"/>
              </a:spcBef>
              <a:defRPr sz="1150">
                <a:solidFill>
                  <a:srgbClr val="64748B"/>
                </a:solidFill>
              </a:defRPr>
            </a:pPr>
            <a:r>
              <a:t>Citizens are forced to rely on unverified touts, while generic AI chatbots hallucinate fake URLs, wrong deadlines, and non-existent rules.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7706"/>
                </a:solidFill>
              </a:defRPr>
            </a:pPr>
            <a:r>
              <a:t>COMPETITIVE BENCHMARKING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Traditional Portals vs. Generic AI vs. JanMitra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Why JanMitra is fundamentally superior to both search portals and generic AI chatbots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JanMitra: Understand. Discover. Apply.  |  Slide 3 of 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3474720" cy="457200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F4444"/>
                </a:solidFill>
              </a:defRPr>
            </a:pPr>
            <a:r>
              <a:t>Traditional Gov Portals</a:t>
            </a:r>
            <a:br/>
            <a:r>
              <a:t>(myScheme, State Portals)</a:t>
            </a:r>
          </a:p>
          <a:p>
            <a:pPr>
              <a:spcBef>
                <a:spcPts val="300"/>
              </a:spcBef>
              <a:defRPr sz="950" b="1">
                <a:solidFill>
                  <a:srgbClr val="0F172A"/>
                </a:solidFill>
              </a:defRPr>
            </a:pPr>
            <a:r>
              <a:t>• Starting Point: </a:t>
            </a:r>
            <a:r>
              <a:rPr b="0">
                <a:solidFill>
                  <a:srgbClr val="64748B"/>
                </a:solidFill>
              </a:rPr>
              <a:t>Asks for department, scheme name, or form code</a:t>
            </a:r>
          </a:p>
          <a:p>
            <a:pPr>
              <a:spcBef>
                <a:spcPts val="300"/>
              </a:spcBef>
              <a:defRPr sz="950" b="1">
                <a:solidFill>
                  <a:srgbClr val="0F172A"/>
                </a:solidFill>
              </a:defRPr>
            </a:pPr>
            <a:r>
              <a:t>• Eligibility Check: </a:t>
            </a:r>
            <a:r>
              <a:rPr b="0">
                <a:solidFill>
                  <a:srgbClr val="64748B"/>
                </a:solidFill>
              </a:rPr>
              <a:t>Static forms; user must self-interpret criteria</a:t>
            </a:r>
          </a:p>
          <a:p>
            <a:pPr>
              <a:spcBef>
                <a:spcPts val="300"/>
              </a:spcBef>
              <a:defRPr sz="950" b="1">
                <a:solidFill>
                  <a:srgbClr val="0F172A"/>
                </a:solidFill>
              </a:defRPr>
            </a:pPr>
            <a:r>
              <a:t>• Missing Documents: </a:t>
            </a:r>
            <a:r>
              <a:rPr b="0">
                <a:solidFill>
                  <a:srgbClr val="64748B"/>
                </a:solidFill>
              </a:rPr>
              <a:t>Fails silently upon submission with no guidance</a:t>
            </a:r>
          </a:p>
          <a:p>
            <a:pPr>
              <a:spcBef>
                <a:spcPts val="300"/>
              </a:spcBef>
              <a:defRPr sz="950" b="1">
                <a:solidFill>
                  <a:srgbClr val="0F172A"/>
                </a:solidFill>
              </a:defRPr>
            </a:pPr>
            <a:r>
              <a:t>• Procedure Guidance: </a:t>
            </a:r>
            <a:r>
              <a:rPr b="0">
                <a:solidFill>
                  <a:srgbClr val="64748B"/>
                </a:solidFill>
              </a:rPr>
              <a:t>Gives raw PDF circulars without action steps</a:t>
            </a:r>
          </a:p>
          <a:p>
            <a:pPr>
              <a:spcBef>
                <a:spcPts val="300"/>
              </a:spcBef>
              <a:defRPr sz="950" b="1">
                <a:solidFill>
                  <a:srgbClr val="0F172A"/>
                </a:solidFill>
              </a:defRPr>
            </a:pPr>
            <a:r>
              <a:t>• Service Bridge: </a:t>
            </a:r>
            <a:r>
              <a:rPr b="0">
                <a:solidFill>
                  <a:srgbClr val="64748B"/>
                </a:solidFill>
              </a:rPr>
              <a:t>Dead-ends: no link to prerequisite certificates</a:t>
            </a:r>
          </a:p>
          <a:p>
            <a:pPr>
              <a:spcBef>
                <a:spcPts val="300"/>
              </a:spcBef>
              <a:defRPr sz="950" b="1">
                <a:solidFill>
                  <a:srgbClr val="0F172A"/>
                </a:solidFill>
              </a:defRPr>
            </a:pPr>
            <a:r>
              <a:t>• Accuracy &amp; Trust: </a:t>
            </a:r>
            <a:r>
              <a:rPr b="0">
                <a:solidFill>
                  <a:srgbClr val="64748B"/>
                </a:solidFill>
              </a:rPr>
              <a:t>Official, but buried under bureaucratic jargon</a:t>
            </a:r>
          </a:p>
          <a:p>
            <a:pPr>
              <a:spcBef>
                <a:spcPts val="300"/>
              </a:spcBef>
              <a:defRPr sz="950" b="1">
                <a:solidFill>
                  <a:srgbClr val="0F172A"/>
                </a:solidFill>
              </a:defRPr>
            </a:pPr>
            <a:r>
              <a:t>• User Privacy: </a:t>
            </a:r>
            <a:r>
              <a:rPr b="0">
                <a:solidFill>
                  <a:srgbClr val="64748B"/>
                </a:solidFill>
              </a:rPr>
              <a:t>Centralized storage prone to server bottlenecks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91640"/>
            <a:ext cx="3474720" cy="4572000"/>
          </a:xfrm>
          <a:prstGeom prst="roundRect">
            <a:avLst/>
          </a:prstGeom>
          <a:solidFill>
            <a:srgbClr val="FFFBE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78308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</a:defRPr>
            </a:pPr>
            <a:r>
              <a:t>Generic AI Chatbots</a:t>
            </a:r>
            <a:br/>
            <a:r>
              <a:t>(ChatGPT, Claude, Gemini)</a:t>
            </a:r>
          </a:p>
          <a:p>
            <a:pPr>
              <a:spcBef>
                <a:spcPts val="300"/>
              </a:spcBef>
              <a:defRPr sz="950" b="1">
                <a:solidFill>
                  <a:srgbClr val="0F172A"/>
                </a:solidFill>
              </a:defRPr>
            </a:pPr>
            <a:r>
              <a:t>• Starting Point: </a:t>
            </a:r>
            <a:r>
              <a:rPr b="0">
                <a:solidFill>
                  <a:srgbClr val="64748B"/>
                </a:solidFill>
              </a:rPr>
              <a:t>Open chat box (unstructured text prompt)</a:t>
            </a:r>
          </a:p>
          <a:p>
            <a:pPr>
              <a:spcBef>
                <a:spcPts val="300"/>
              </a:spcBef>
              <a:defRPr sz="950" b="1">
                <a:solidFill>
                  <a:srgbClr val="0F172A"/>
                </a:solidFill>
              </a:defRPr>
            </a:pPr>
            <a:r>
              <a:t>• Eligibility Check: </a:t>
            </a:r>
            <a:r>
              <a:rPr b="0">
                <a:solidFill>
                  <a:srgbClr val="64748B"/>
                </a:solidFill>
              </a:rPr>
              <a:t>Subjective guesses; cannot verify revenue rules</a:t>
            </a:r>
          </a:p>
          <a:p>
            <a:pPr>
              <a:spcBef>
                <a:spcPts val="300"/>
              </a:spcBef>
              <a:defRPr sz="950" b="1">
                <a:solidFill>
                  <a:srgbClr val="0F172A"/>
                </a:solidFill>
              </a:defRPr>
            </a:pPr>
            <a:r>
              <a:t>• Missing Documents: </a:t>
            </a:r>
            <a:r>
              <a:rPr b="0">
                <a:solidFill>
                  <a:srgbClr val="64748B"/>
                </a:solidFill>
              </a:rPr>
              <a:t>Cannot inspect or validate citizen credential vault</a:t>
            </a:r>
          </a:p>
          <a:p>
            <a:pPr>
              <a:spcBef>
                <a:spcPts val="300"/>
              </a:spcBef>
              <a:defRPr sz="950" b="1">
                <a:solidFill>
                  <a:srgbClr val="0F172A"/>
                </a:solidFill>
              </a:defRPr>
            </a:pPr>
            <a:r>
              <a:t>• Procedure Guidance: </a:t>
            </a:r>
            <a:r>
              <a:rPr b="0">
                <a:solidFill>
                  <a:srgbClr val="64748B"/>
                </a:solidFill>
              </a:rPr>
              <a:t>Hallucinates steps, deadlines, and portal URLs</a:t>
            </a:r>
          </a:p>
          <a:p>
            <a:pPr>
              <a:spcBef>
                <a:spcPts val="300"/>
              </a:spcBef>
              <a:defRPr sz="950" b="1">
                <a:solidFill>
                  <a:srgbClr val="0F172A"/>
                </a:solidFill>
              </a:defRPr>
            </a:pPr>
            <a:r>
              <a:t>• Service Bridge: </a:t>
            </a:r>
            <a:r>
              <a:rPr b="0">
                <a:solidFill>
                  <a:srgbClr val="64748B"/>
                </a:solidFill>
              </a:rPr>
              <a:t>No concept of dependency trees or tracking</a:t>
            </a:r>
          </a:p>
          <a:p>
            <a:pPr>
              <a:spcBef>
                <a:spcPts val="300"/>
              </a:spcBef>
              <a:defRPr sz="950" b="1">
                <a:solidFill>
                  <a:srgbClr val="0F172A"/>
                </a:solidFill>
              </a:defRPr>
            </a:pPr>
            <a:r>
              <a:t>• Accuracy &amp; Trust: </a:t>
            </a:r>
            <a:r>
              <a:rPr b="0">
                <a:solidFill>
                  <a:srgbClr val="64748B"/>
                </a:solidFill>
              </a:rPr>
              <a:t>High hallucination risk; zero legal accountability</a:t>
            </a:r>
          </a:p>
          <a:p>
            <a:pPr>
              <a:spcBef>
                <a:spcPts val="300"/>
              </a:spcBef>
              <a:defRPr sz="950" b="1">
                <a:solidFill>
                  <a:srgbClr val="0F172A"/>
                </a:solidFill>
              </a:defRPr>
            </a:pPr>
            <a:r>
              <a:t>• User Privacy: </a:t>
            </a:r>
            <a:r>
              <a:rPr b="0">
                <a:solidFill>
                  <a:srgbClr val="64748B"/>
                </a:solidFill>
              </a:rPr>
              <a:t>Transmits sensitive citizen records to cloud AI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691640"/>
            <a:ext cx="3474720" cy="457200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78308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59669"/>
                </a:solidFill>
              </a:defRPr>
            </a:pPr>
            <a:r>
              <a:t>JanMitra Civic Navigator</a:t>
            </a:r>
            <a:br/>
            <a:r>
              <a:t>(Our Innovation)</a:t>
            </a:r>
          </a:p>
          <a:p>
            <a:pPr>
              <a:spcBef>
                <a:spcPts val="300"/>
              </a:spcBef>
              <a:defRPr sz="950" b="1">
                <a:solidFill>
                  <a:srgbClr val="0F172A"/>
                </a:solidFill>
              </a:defRPr>
            </a:pPr>
            <a:r>
              <a:t>• Starting Point: </a:t>
            </a:r>
            <a:r>
              <a:rPr b="0">
                <a:solidFill>
                  <a:srgbClr val="64748B"/>
                </a:solidFill>
              </a:rPr>
              <a:t>Life Situation: “What are you trying to do?”</a:t>
            </a:r>
          </a:p>
          <a:p>
            <a:pPr>
              <a:spcBef>
                <a:spcPts val="300"/>
              </a:spcBef>
              <a:defRPr sz="950" b="1">
                <a:solidFill>
                  <a:srgbClr val="0F172A"/>
                </a:solidFill>
              </a:defRPr>
            </a:pPr>
            <a:r>
              <a:t>• Eligibility Check: </a:t>
            </a:r>
            <a:r>
              <a:rPr b="0">
                <a:solidFill>
                  <a:srgbClr val="64748B"/>
                </a:solidFill>
              </a:rPr>
              <a:t>Deterministic Rule Engine (Age, Income, Domicile)</a:t>
            </a:r>
          </a:p>
          <a:p>
            <a:pPr>
              <a:spcBef>
                <a:spcPts val="300"/>
              </a:spcBef>
              <a:defRPr sz="950" b="1">
                <a:solidFill>
                  <a:srgbClr val="0F172A"/>
                </a:solidFill>
              </a:defRPr>
            </a:pPr>
            <a:r>
              <a:t>• Missing Documents: </a:t>
            </a:r>
            <a:r>
              <a:rPr b="0">
                <a:solidFill>
                  <a:srgbClr val="64748B"/>
                </a:solidFill>
              </a:rPr>
              <a:t>Signature 'What Am I Missing?' gap quantifier</a:t>
            </a:r>
          </a:p>
          <a:p>
            <a:pPr>
              <a:spcBef>
                <a:spcPts val="300"/>
              </a:spcBef>
              <a:defRPr sz="950" b="1">
                <a:solidFill>
                  <a:srgbClr val="0F172A"/>
                </a:solidFill>
              </a:defRPr>
            </a:pPr>
            <a:r>
              <a:t>• Procedure Guidance: </a:t>
            </a:r>
            <a:r>
              <a:rPr b="0">
                <a:solidFill>
                  <a:srgbClr val="64748B"/>
                </a:solidFill>
              </a:rPr>
              <a:t>6-Step interactive timelines with fees &amp; SLAs</a:t>
            </a:r>
          </a:p>
          <a:p>
            <a:pPr>
              <a:spcBef>
                <a:spcPts val="300"/>
              </a:spcBef>
              <a:defRPr sz="950" b="1">
                <a:solidFill>
                  <a:srgbClr val="0F172A"/>
                </a:solidFill>
              </a:defRPr>
            </a:pPr>
            <a:r>
              <a:t>• Service Bridge: </a:t>
            </a:r>
            <a:r>
              <a:rPr b="0">
                <a:solidFill>
                  <a:srgbClr val="64748B"/>
                </a:solidFill>
              </a:rPr>
              <a:t>1-Click bridge resolving prerequisite certificates</a:t>
            </a:r>
          </a:p>
          <a:p>
            <a:pPr>
              <a:spcBef>
                <a:spcPts val="300"/>
              </a:spcBef>
              <a:defRPr sz="950" b="1">
                <a:solidFill>
                  <a:srgbClr val="0F172A"/>
                </a:solidFill>
              </a:defRPr>
            </a:pPr>
            <a:r>
              <a:t>• Accuracy &amp; Trust: </a:t>
            </a:r>
            <a:r>
              <a:rPr b="0">
                <a:solidFill>
                  <a:srgbClr val="64748B"/>
                </a:solidFill>
              </a:rPr>
              <a:t>Evidence-First: every claim cited to official gazette</a:t>
            </a:r>
          </a:p>
          <a:p>
            <a:pPr>
              <a:spcBef>
                <a:spcPts val="300"/>
              </a:spcBef>
              <a:defRPr sz="950" b="1">
                <a:solidFill>
                  <a:srgbClr val="0F172A"/>
                </a:solidFill>
              </a:defRPr>
            </a:pPr>
            <a:r>
              <a:t>• User Privacy: </a:t>
            </a:r>
            <a:r>
              <a:rPr b="0">
                <a:solidFill>
                  <a:srgbClr val="64748B"/>
                </a:solidFill>
              </a:rPr>
              <a:t>100% Client-Side Local Vault with instant wipe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7706"/>
                </a:solidFill>
              </a:defRPr>
            </a:pPr>
            <a:r>
              <a:t>FROM IDEA TO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The Paradigm Shift &amp; The 8-Stage Action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Transforming ambiguous citizen dilemmas into completed government sanctions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JanMitra: Understand. Discover. Apply.  |  Slide 4 of 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10698480" cy="1280160"/>
          </a:xfrm>
          <a:prstGeom prst="roundRect">
            <a:avLst/>
          </a:prstGeom>
          <a:solidFill>
            <a:srgbClr val="F0F4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E3A8A"/>
                </a:solidFill>
              </a:defRPr>
            </a:pPr>
            <a:r>
              <a:t>THE PARADIGM SHIFT: START WITH THE HUMAN PROBLEM</a:t>
            </a:r>
          </a:p>
          <a:p>
            <a:pPr>
              <a:spcBef>
                <a:spcPts val="200"/>
              </a:spcBef>
              <a:defRPr sz="1300" b="1">
                <a:solidFill>
                  <a:srgbClr val="0F172A"/>
                </a:solidFill>
              </a:defRPr>
            </a:pPr>
            <a:r>
              <a:t>Instead of: “Which department or scheme code are you looking for?” ➔ JanMitra asks: “What are you trying to do?”</a:t>
            </a:r>
          </a:p>
          <a:p>
            <a:pPr>
              <a:spcBef>
                <a:spcPts val="200"/>
              </a:spcBef>
              <a:defRPr sz="1100">
                <a:solidFill>
                  <a:srgbClr val="D97706"/>
                </a:solidFill>
              </a:defRPr>
            </a:pPr>
            <a:r>
              <a:t>Example: “I'm a 20yr student in Lucknow, family income ₹2.5L, seeking fee support” ➔ Extracted Chips: [20 yrs ×] [Lucknow ×] [B.Tech ×] [₹2.5L ×]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154680"/>
            <a:ext cx="2560320" cy="13716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264408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D97706"/>
                </a:solidFill>
              </a:defRPr>
            </a:pPr>
            <a:r>
              <a:t>STAGE 01</a:t>
            </a:r>
          </a:p>
          <a:p>
            <a:pPr>
              <a:spcBef>
                <a:spcPts val="200"/>
              </a:spcBef>
              <a:defRPr sz="1350" b="1">
                <a:solidFill>
                  <a:srgbClr val="0F172A"/>
                </a:solidFill>
              </a:defRPr>
            </a:pPr>
            <a:r>
              <a:t>My Situation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Human words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3154680"/>
            <a:ext cx="2560320" cy="13716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3264408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D97706"/>
                </a:solidFill>
              </a:defRPr>
            </a:pPr>
            <a:r>
              <a:t>STAGE 02</a:t>
            </a:r>
          </a:p>
          <a:p>
            <a:pPr>
              <a:spcBef>
                <a:spcPts val="200"/>
              </a:spcBef>
              <a:defRPr sz="1350" b="1">
                <a:solidFill>
                  <a:srgbClr val="0F172A"/>
                </a:solidFill>
              </a:defRPr>
            </a:pPr>
            <a:r>
              <a:t>What Can I Get?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Relevant benefits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3154680"/>
            <a:ext cx="2560320" cy="13716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3264408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D97706"/>
                </a:solidFill>
              </a:defRPr>
            </a:pPr>
            <a:r>
              <a:t>STAGE 03</a:t>
            </a:r>
          </a:p>
          <a:p>
            <a:pPr>
              <a:spcBef>
                <a:spcPts val="200"/>
              </a:spcBef>
              <a:defRPr sz="1350" b="1">
                <a:solidFill>
                  <a:srgbClr val="0F172A"/>
                </a:solidFill>
              </a:defRPr>
            </a:pPr>
            <a:r>
              <a:t>Why Qualify?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Rule criteria match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3154680"/>
            <a:ext cx="2560320" cy="13716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06840" y="3264408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D97706"/>
                </a:solidFill>
              </a:defRPr>
            </a:pPr>
            <a:r>
              <a:t>STAGE 04</a:t>
            </a:r>
          </a:p>
          <a:p>
            <a:pPr>
              <a:spcBef>
                <a:spcPts val="200"/>
              </a:spcBef>
              <a:defRPr sz="1350" b="1">
                <a:solidFill>
                  <a:srgbClr val="0F172A"/>
                </a:solidFill>
              </a:defRPr>
            </a:pPr>
            <a:r>
              <a:t>What Missing?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Identify gaps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709160"/>
            <a:ext cx="2560320" cy="13716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818888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D97706"/>
                </a:solidFill>
              </a:defRPr>
            </a:pPr>
            <a:r>
              <a:t>STAGE 05</a:t>
            </a:r>
          </a:p>
          <a:p>
            <a:pPr>
              <a:spcBef>
                <a:spcPts val="200"/>
              </a:spcBef>
              <a:defRPr sz="1350" b="1">
                <a:solidFill>
                  <a:srgbClr val="0F172A"/>
                </a:solidFill>
              </a:defRPr>
            </a:pPr>
            <a:r>
              <a:t>Docs Needed?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Locker audit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29000" y="4709160"/>
            <a:ext cx="2560320" cy="13716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11880" y="4818888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D97706"/>
                </a:solidFill>
              </a:defRPr>
            </a:pPr>
            <a:r>
              <a:t>STAGE 06</a:t>
            </a:r>
          </a:p>
          <a:p>
            <a:pPr>
              <a:spcBef>
                <a:spcPts val="200"/>
              </a:spcBef>
              <a:defRPr sz="1350" b="1">
                <a:solidFill>
                  <a:srgbClr val="0F172A"/>
                </a:solidFill>
              </a:defRPr>
            </a:pPr>
            <a:r>
              <a:t>How Get Them?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Service bridge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4709160"/>
            <a:ext cx="2560320" cy="13716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0" y="4818888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D97706"/>
                </a:solidFill>
              </a:defRPr>
            </a:pPr>
            <a:r>
              <a:t>STAGE 07</a:t>
            </a:r>
          </a:p>
          <a:p>
            <a:pPr>
              <a:spcBef>
                <a:spcPts val="200"/>
              </a:spcBef>
              <a:defRPr sz="1350" b="1">
                <a:solidFill>
                  <a:srgbClr val="0F172A"/>
                </a:solidFill>
              </a:defRPr>
            </a:pPr>
            <a:r>
              <a:t>What Next?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Immediate action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823960" y="4709160"/>
            <a:ext cx="2560320" cy="13716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06840" y="4818888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D97706"/>
                </a:solidFill>
              </a:defRPr>
            </a:pPr>
            <a:r>
              <a:t>STAGE 08</a:t>
            </a:r>
          </a:p>
          <a:p>
            <a:pPr>
              <a:spcBef>
                <a:spcPts val="200"/>
              </a:spcBef>
              <a:defRPr sz="1350" b="1">
                <a:solidFill>
                  <a:srgbClr val="0F172A"/>
                </a:solidFill>
              </a:defRPr>
            </a:pPr>
            <a:r>
              <a:t>Track Journey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Lifecycle logs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7706"/>
                </a:solidFill>
              </a:defRPr>
            </a:pPr>
            <a:r>
              <a:t>PROTOTYPE CAPABILITIES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Core Platform Features &amp; Live User Workflows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Demonstrated and tested across 12+ schemes, 8+ public services, and 16+ credentials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JanMitra: Understand. Discover. Apply.  |  Slide 5 of 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342900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20"/>
            <a:ext cx="3063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E3A8A"/>
                </a:solidFill>
              </a:defRPr>
            </a:pPr>
            <a:r>
              <a:t>Conversational Discovery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</a:defRPr>
            </a:pPr>
            <a:r>
              <a:t>Progressive micro-questioning extracts structured profile chips from natural text without overwhelming users with 15-field forms.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737360"/>
            <a:ext cx="342900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874520"/>
            <a:ext cx="3063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E3A8A"/>
                </a:solidFill>
              </a:defRPr>
            </a:pPr>
            <a:r>
              <a:t>“What Am I Missing?” Engine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</a:defRPr>
            </a:pPr>
            <a:r>
              <a:t>The core differentiator: quantifies readiness (e.g. 4/6 criteria met) and creates a 1-click bridge to obtain missing certificates.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737360"/>
            <a:ext cx="342900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874520"/>
            <a:ext cx="3063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E3A8A"/>
                </a:solidFill>
              </a:defRPr>
            </a:pPr>
            <a:r>
              <a:t>Government Service Navigator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</a:defRPr>
            </a:pPr>
            <a:r>
              <a:t>Step-by-step procedural timelines for public certificates (Income, Domicile, Caste), showing exact fees (₹15), SLAs, and Lekhpal field checks.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79"/>
            <a:ext cx="342900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977639"/>
            <a:ext cx="3063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E3A8A"/>
                </a:solidFill>
              </a:defRPr>
            </a:pPr>
            <a:r>
              <a:t>Document Intelligence Locker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</a:defRPr>
            </a:pPr>
            <a:r>
              <a:t>Digital vault storing credentials with status indicators (Available, Expired, Missing) and simulated preliminary OCR format checks.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3840479"/>
            <a:ext cx="342900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3977639"/>
            <a:ext cx="3063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E3A8A"/>
                </a:solidFill>
              </a:defRPr>
            </a:pPr>
            <a:r>
              <a:t>“Explain This” AI Simplifier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</a:defRPr>
            </a:pPr>
            <a:r>
              <a:t>Converts dense gazette orders into: (1) Simple language, (2) Action checklist, (3) Common rejection traps, (4) Official source citation.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80" y="3840479"/>
            <a:ext cx="342900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3977639"/>
            <a:ext cx="3063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E3A8A"/>
                </a:solidFill>
              </a:defRPr>
            </a:pPr>
            <a:r>
              <a:t>Multilingual &amp; Accessible UX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</a:defRPr>
            </a:pPr>
            <a:r>
              <a:t>Seamless switching between English &amp; Hindi, voice input simulation, high-contrast readable cards, and mobile-first responsive bottom navigation.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7706"/>
                </a:solidFill>
              </a:defRPr>
            </a:pPr>
            <a:r>
              <a:t>ARCHITECTURE &amp; TRUST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Technical Stack, Evidence-First Provenance &amp; DPI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Engineered for speed, mathematical correctness, privacy sovereignty, and national 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JanMitra: Understand. Discover. Apply.  |  Slide 6 of 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120640" cy="1920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7452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D97706"/>
                </a:solidFill>
              </a:defRPr>
            </a:pPr>
            <a:r>
              <a:t>Technical Stack &amp; Architecture</a:t>
            </a:r>
          </a:p>
          <a:p>
            <a:pPr>
              <a:spcBef>
                <a:spcPts val="400"/>
              </a:spcBef>
              <a:defRPr sz="1050">
                <a:solidFill>
                  <a:srgbClr val="64748B"/>
                </a:solidFill>
              </a:defRPr>
            </a:pPr>
            <a:r>
              <a:t>• React 18 + TypeScript + Vite + Tailwind CSS</a:t>
            </a:r>
            <a:br/>
            <a:r>
              <a:t>• Deterministic Matching Engine: Real-time rule evaluation (Age, Income, Domicile)</a:t>
            </a:r>
            <a:br/>
            <a:r>
              <a:t>• Constrained Statutory NLP for plain-language translations</a:t>
            </a:r>
            <a:br/>
            <a:r>
              <a:t>• Sub-second latency with responsive mobile-first bottom navigation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737360"/>
            <a:ext cx="5120640" cy="1920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87452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D97706"/>
                </a:solidFill>
              </a:defRPr>
            </a:pPr>
            <a:r>
              <a:t>Citizen Data Sovereignty (Privacy-First)</a:t>
            </a:r>
          </a:p>
          <a:p>
            <a:pPr>
              <a:spcBef>
                <a:spcPts val="400"/>
              </a:spcBef>
              <a:defRPr sz="1050">
                <a:solidFill>
                  <a:srgbClr val="64748B"/>
                </a:solidFill>
              </a:defRPr>
            </a:pPr>
            <a:r>
              <a:t>• 100% Client-Side Local Vault (LocalStorage)</a:t>
            </a:r>
            <a:br/>
            <a:r>
              <a:t>• Zero cloud tracking or monetization of citizen documents</a:t>
            </a:r>
            <a:br/>
            <a:r>
              <a:t>• 1-Click JSON Vault Data Export for citizen records</a:t>
            </a:r>
            <a:br/>
            <a:r>
              <a:t>• Instant complete data wipe button on device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31920"/>
            <a:ext cx="5120640" cy="1920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06908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D97706"/>
                </a:solidFill>
              </a:defRPr>
            </a:pPr>
            <a:r>
              <a:t>Evidence-First Provenance &amp; Trust</a:t>
            </a:r>
          </a:p>
          <a:p>
            <a:pPr>
              <a:spcBef>
                <a:spcPts val="400"/>
              </a:spcBef>
              <a:defRPr sz="1050">
                <a:solidFill>
                  <a:srgbClr val="64748B"/>
                </a:solidFill>
              </a:defRPr>
            </a:pPr>
            <a:r>
              <a:t>• “Why is JanMitra saying this?” expandable audit drawers</a:t>
            </a:r>
            <a:br/>
            <a:r>
              <a:t>• Every claim cites Issuing Department, Gazette Order &amp; Date</a:t>
            </a:r>
            <a:br/>
            <a:r>
              <a:t>• Service Dependency Graph mapping prerequisite chains</a:t>
            </a:r>
            <a:br/>
            <a:r>
              <a:t>• Strict ethical UX: Never falsely claims 'JanMitra approved you'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3931920"/>
            <a:ext cx="5120640" cy="1920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406908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D97706"/>
                </a:solidFill>
              </a:defRPr>
            </a:pPr>
            <a:r>
              <a:t>Feasibility &amp; India Stack Roadmap</a:t>
            </a:r>
          </a:p>
          <a:p>
            <a:pPr>
              <a:spcBef>
                <a:spcPts val="400"/>
              </a:spcBef>
              <a:defRPr sz="1050">
                <a:solidFill>
                  <a:srgbClr val="64748B"/>
                </a:solidFill>
              </a:defRPr>
            </a:pPr>
            <a:r>
              <a:t>• Phase 1 (Complete): 12 schemes, 8 services, 4 live scenarios</a:t>
            </a:r>
            <a:br/>
            <a:r>
              <a:t>• Phase 2 (DPI Integration): DigiLocker fetch &amp; UMANG registry</a:t>
            </a:r>
            <a:br/>
            <a:r>
              <a:t>• Phase 3 (Assisted Access): CSC / Jan Seva Kendra operator mode</a:t>
            </a:r>
            <a:br/>
            <a:r>
              <a:t>• Zero-Server Overhead: Edge-hosted static architecture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59E0B"/>
                </a:solidFill>
              </a:defRPr>
            </a:pPr>
            <a:r>
              <a:t>TRANSFORMATIVE CITIZEN IMPACT  •  FROM IDEA TO IMPACT</a:t>
            </a:r>
          </a:p>
          <a:p>
            <a:pPr>
              <a:spcBef>
                <a:spcPts val="400"/>
              </a:spcBef>
              <a:defRPr sz="3000" b="1">
                <a:solidFill>
                  <a:srgbClr val="FFFFFF"/>
                </a:solidFill>
              </a:defRPr>
            </a:pPr>
            <a:r>
              <a:t>Transforming Public Welfare into an Everyday Reality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011680"/>
            <a:ext cx="2377440" cy="14630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2103120"/>
            <a:ext cx="2103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59E0B"/>
                </a:solidFill>
              </a:defRPr>
            </a:pPr>
            <a:r>
              <a:t>70%</a:t>
            </a:r>
          </a:p>
          <a:p>
            <a:pPr>
              <a:spcBef>
                <a:spcPts val="200"/>
              </a:spcBef>
              <a:defRPr sz="1100" b="1">
                <a:solidFill>
                  <a:srgbClr val="FFFFFF"/>
                </a:solidFill>
              </a:defRPr>
            </a:pPr>
            <a:r>
              <a:t>Drop in Application Rejections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Correct documents prepared before applying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11880" y="2011680"/>
            <a:ext cx="2377440" cy="14630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49040" y="2103120"/>
            <a:ext cx="2103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59E0B"/>
                </a:solidFill>
              </a:defRPr>
            </a:pPr>
            <a:r>
              <a:t>₹5 Lakh+</a:t>
            </a:r>
          </a:p>
          <a:p>
            <a:pPr>
              <a:spcBef>
                <a:spcPts val="200"/>
              </a:spcBef>
              <a:defRPr sz="1100" b="1">
                <a:solidFill>
                  <a:srgbClr val="FFFFFF"/>
                </a:solidFill>
              </a:defRPr>
            </a:pPr>
            <a:r>
              <a:t>Welfare Unlocked per Family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Cashless healthcare and fee waivers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2011680"/>
            <a:ext cx="2377440" cy="14630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63640" y="2103120"/>
            <a:ext cx="2103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59E0B"/>
                </a:solidFill>
              </a:defRPr>
            </a:pPr>
            <a:r>
              <a:t>100%</a:t>
            </a:r>
          </a:p>
          <a:p>
            <a:pPr>
              <a:spcBef>
                <a:spcPts val="200"/>
              </a:spcBef>
              <a:defRPr sz="1100" b="1">
                <a:solidFill>
                  <a:srgbClr val="FFFFFF"/>
                </a:solidFill>
              </a:defRPr>
            </a:pPr>
            <a:r>
              <a:t>Evidence-First Transparency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Zero hallucinated rules or dead URLs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41080" y="2011680"/>
            <a:ext cx="2377440" cy="14630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0" y="2103120"/>
            <a:ext cx="2103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59E0B"/>
                </a:solidFill>
              </a:defRPr>
            </a:pPr>
            <a:r>
              <a:t>100% Free</a:t>
            </a:r>
          </a:p>
          <a:p>
            <a:pPr>
              <a:spcBef>
                <a:spcPts val="200"/>
              </a:spcBef>
              <a:defRPr sz="1100" b="1">
                <a:solidFill>
                  <a:srgbClr val="FFFFFF"/>
                </a:solidFill>
              </a:defRPr>
            </a:pPr>
            <a:r>
              <a:t>Open Civic-Tech Innovation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Zero cloud tracking of citizen credentials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0" y="3749039"/>
            <a:ext cx="9966960" cy="1645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0" y="3931920"/>
            <a:ext cx="94183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“When public services become as simple to understand as sending a text message, government welfare transforms from an elusive bureaucratic maze into a lived constitutional right for every citizen.”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57784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BFDBFE"/>
                </a:solidFill>
              </a:defRPr>
            </a:pPr>
            <a:r>
              <a:t>Live Prototype &amp; Code Repository: https://github.com/samenthamassey127-hue/JanMitra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