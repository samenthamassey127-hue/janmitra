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JanMitra (जनमित्र)</a:t>
            </a:r>
          </a:p>
          <a:p>
            <a:pPr>
              <a:spcBef>
                <a:spcPts val="600"/>
              </a:spcBef>
              <a:defRPr sz="2200">
                <a:solidFill>
                  <a:srgbClr val="BFDBFE"/>
                </a:solidFill>
              </a:defRPr>
            </a:pPr>
            <a:r>
              <a:t>“Understand. Discover. Apply.”</a:t>
            </a:r>
          </a:p>
          <a:p>
            <a:pPr>
              <a:spcBef>
                <a:spcPts val="1000"/>
              </a:spcBef>
              <a:defRPr sz="1500">
                <a:solidFill>
                  <a:srgbClr val="CBD5E1"/>
                </a:solidFill>
              </a:defRPr>
            </a:pPr>
            <a:r>
              <a:t>A citizen-first digital navigator that turns real-life situations into evidence-backed government action plans.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297680"/>
            <a:ext cx="9966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43484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THE CORE PRODUCT PHILOSOPHY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“Citizens should not need to understand the architecture of government in order to access government services.”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Reality of Accessing Government Welfare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Why billions in public welfare budgets remain unutilized by eligible citizens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JanMitra  •  Slide 2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C1C"/>
                </a:solidFill>
              </a:defRPr>
            </a:pPr>
            <a:r>
              <a:t>01. The Portal Maze (1,500+ Schemes)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Schemes are siloed across hundreds of separate department portals. Citizens must already know the scheme acronym (PMAY, MMYSY, NFSA) before searching.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512064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C1C"/>
                </a:solidFill>
              </a:defRPr>
            </a:pPr>
            <a:r>
              <a:t>02. Dense Administrative Legalese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Official circulars, affidavits, and gazette notices use dense bureaucratic prose that intimidates first-time digital and rural citizens.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C1C"/>
                </a:solidFill>
              </a:defRPr>
            </a:pPr>
            <a:r>
              <a:t>03. Prerequisite Dead-Ends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A citizen applies for a scholarship or loan, only to face rejection weeks later because they lacked a prerequisite revenue certificate (e.g. Income or Domicile).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C1C"/>
                </a:solidFill>
              </a:defRPr>
            </a:pPr>
            <a:r>
              <a:t>04. The Intermediary &amp; Hallucination Trap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Citizens are forced to pay unverified touts, while generic AI chatbots hallucinate fake URLs, wrong deadlines, and non-existent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Traditional Portals vs. Generic AI vs. JanMitra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Why JanMitra is fundamentally superior to both search portals and generic AI chatbots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JanMitra  •  Slide 3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6177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Traditional Gov Portals</a:t>
            </a:r>
            <a:br/>
            <a:r>
              <a:t>(myScheme, State Portals)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Starting Point: </a:t>
            </a:r>
            <a:r>
              <a:rPr b="0">
                <a:solidFill>
                  <a:srgbClr val="64748B"/>
                </a:solidFill>
              </a:rPr>
              <a:t>Asks for department, scheme name, or form code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Eligibility Check: </a:t>
            </a:r>
            <a:r>
              <a:rPr b="0">
                <a:solidFill>
                  <a:srgbClr val="64748B"/>
                </a:solidFill>
              </a:rPr>
              <a:t>Static forms; user must self-interpret criteria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Missing Documents: </a:t>
            </a:r>
            <a:r>
              <a:rPr b="0">
                <a:solidFill>
                  <a:srgbClr val="64748B"/>
                </a:solidFill>
              </a:rPr>
              <a:t>Fails silently upon submission with no guidance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Procedure Guidance: </a:t>
            </a:r>
            <a:r>
              <a:rPr b="0">
                <a:solidFill>
                  <a:srgbClr val="64748B"/>
                </a:solidFill>
              </a:rPr>
              <a:t>Gives raw PDF circulars without action steps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Service Bridge: </a:t>
            </a:r>
            <a:r>
              <a:rPr b="0">
                <a:solidFill>
                  <a:srgbClr val="64748B"/>
                </a:solidFill>
              </a:rPr>
              <a:t>Dead-ends: no link to prerequisite certificates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Accuracy &amp; Trust: </a:t>
            </a:r>
            <a:r>
              <a:rPr b="0">
                <a:solidFill>
                  <a:srgbClr val="64748B"/>
                </a:solidFill>
              </a:rPr>
              <a:t>Official, but buried under bureaucratic jargon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User Privacy: </a:t>
            </a:r>
            <a:r>
              <a:rPr b="0">
                <a:solidFill>
                  <a:srgbClr val="64748B"/>
                </a:solidFill>
              </a:rPr>
              <a:t>Centralized storage prone to server bottlenecks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6177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Generic AI Chatbots</a:t>
            </a:r>
            <a:br/>
            <a:r>
              <a:t>(ChatGPT, Claude, Gemini)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Starting Point: </a:t>
            </a:r>
            <a:r>
              <a:rPr b="0">
                <a:solidFill>
                  <a:srgbClr val="64748B"/>
                </a:solidFill>
              </a:rPr>
              <a:t>Open chat box (unstructured text prompt)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Eligibility Check: </a:t>
            </a:r>
            <a:r>
              <a:rPr b="0">
                <a:solidFill>
                  <a:srgbClr val="64748B"/>
                </a:solidFill>
              </a:rPr>
              <a:t>Subjective guesses; cannot verify revenue rules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Missing Documents: </a:t>
            </a:r>
            <a:r>
              <a:rPr b="0">
                <a:solidFill>
                  <a:srgbClr val="64748B"/>
                </a:solidFill>
              </a:rPr>
              <a:t>Cannot inspect or validate citizen credential vault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Procedure Guidance: </a:t>
            </a:r>
            <a:r>
              <a:rPr b="0">
                <a:solidFill>
                  <a:srgbClr val="64748B"/>
                </a:solidFill>
              </a:rPr>
              <a:t>Hallucinates steps, deadlines, and portal URLs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Service Bridge: </a:t>
            </a:r>
            <a:r>
              <a:rPr b="0">
                <a:solidFill>
                  <a:srgbClr val="64748B"/>
                </a:solidFill>
              </a:rPr>
              <a:t>No concept of dependency trees or tracking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Accuracy &amp; Trust: </a:t>
            </a:r>
            <a:r>
              <a:rPr b="0">
                <a:solidFill>
                  <a:srgbClr val="64748B"/>
                </a:solidFill>
              </a:rPr>
              <a:t>High hallucination risk; zero legal accountability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User Privacy: </a:t>
            </a:r>
            <a:r>
              <a:rPr b="0">
                <a:solidFill>
                  <a:srgbClr val="64748B"/>
                </a:solidFill>
              </a:rPr>
              <a:t>Transmits sensitive citizen records to cloud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6177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37360"/>
            <a:ext cx="3108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JanMitra Civic Navigator</a:t>
            </a:r>
            <a:br/>
            <a:r>
              <a:t>(Our Innovation)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Starting Point: </a:t>
            </a:r>
            <a:r>
              <a:rPr b="0">
                <a:solidFill>
                  <a:srgbClr val="64748B"/>
                </a:solidFill>
              </a:rPr>
              <a:t>Life Situation: “What are you trying to do?”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Eligibility Check: </a:t>
            </a:r>
            <a:r>
              <a:rPr b="0">
                <a:solidFill>
                  <a:srgbClr val="64748B"/>
                </a:solidFill>
              </a:rPr>
              <a:t>Deterministic Rule Engine (Age, Income, Domicile)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Missing Documents: </a:t>
            </a:r>
            <a:r>
              <a:rPr b="0">
                <a:solidFill>
                  <a:srgbClr val="64748B"/>
                </a:solidFill>
              </a:rPr>
              <a:t>Signature 'What Am I Missing?' gap quantifier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Procedure Guidance: </a:t>
            </a:r>
            <a:r>
              <a:rPr b="0">
                <a:solidFill>
                  <a:srgbClr val="64748B"/>
                </a:solidFill>
              </a:rPr>
              <a:t>6-Step interactive timelines with fees &amp; SLAs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Service Bridge: </a:t>
            </a:r>
            <a:r>
              <a:rPr b="0">
                <a:solidFill>
                  <a:srgbClr val="64748B"/>
                </a:solidFill>
              </a:rPr>
              <a:t>1-Click bridge resolving prerequisite certificates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Accuracy &amp; Trust: </a:t>
            </a:r>
            <a:r>
              <a:rPr b="0">
                <a:solidFill>
                  <a:srgbClr val="64748B"/>
                </a:solidFill>
              </a:rPr>
              <a:t>Evidence-First: every claim cited to official gazette</a:t>
            </a:r>
          </a:p>
          <a:p>
            <a:pPr>
              <a:spcBef>
                <a:spcPts val="300"/>
              </a:spcBef>
              <a:defRPr sz="950" b="1">
                <a:solidFill>
                  <a:srgbClr val="0F172A"/>
                </a:solidFill>
              </a:defRPr>
            </a:pPr>
            <a:r>
              <a:t>• User Privacy: </a:t>
            </a:r>
            <a:r>
              <a:rPr b="0">
                <a:solidFill>
                  <a:srgbClr val="64748B"/>
                </a:solidFill>
              </a:rPr>
              <a:t>100% Client-Side Local Vault with instant wipe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Paradigm Shift &amp; The 8-Stage Action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Transforming ambiguous citizen dilemmas into completed government sanctions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JanMitra  •  Slide 4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F0F4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THE PARADIGM SHIFT: START WITH THE HUMAN PROBLEM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Instead of: “Which department or scheme code are you looking for?” ➔ JanMitra asks: “What are you trying to do?”</a:t>
            </a:r>
          </a:p>
          <a:p>
            <a:pPr>
              <a:spcBef>
                <a:spcPts val="200"/>
              </a:spcBef>
              <a:defRPr sz="1100">
                <a:solidFill>
                  <a:srgbClr val="D97706"/>
                </a:solidFill>
              </a:defRPr>
            </a:pPr>
            <a:r>
              <a:t>Example: “I'm a 20yr student in Lucknow, family income ₹2.5L, seeking fee support” ➔ Extracted Chips: [20 yrs ×] [Lucknow ×] [B.Tech ×] [₹2.5L ×]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868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STAGE 01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My Situation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Human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10896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321868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STAGE 02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What Can I Get?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Relevant benefits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10896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21868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STAGE 03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Why Qualify?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Rule criteria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10896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321868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STAGE 04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What Missing?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Identify gaps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7316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STAGE 05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Docs Needed?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Locker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466344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477316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STAGE 06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How Get Them?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Service bridge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66344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77316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STAGE 07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What Next?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Immediate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4663440"/>
            <a:ext cx="25603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4773168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STAGE 08</a:t>
            </a:r>
          </a:p>
          <a:p>
            <a:pPr>
              <a:spcBef>
                <a:spcPts val="200"/>
              </a:spcBef>
              <a:defRPr sz="1350" b="1">
                <a:solidFill>
                  <a:srgbClr val="0F172A"/>
                </a:solidFill>
              </a:defRPr>
            </a:pPr>
            <a:r>
              <a:t>Track Journey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Lifecycle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Platform Features &amp; Live User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Demonstrated and tested across 12+ schemes, 8+ public services, and 16+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JanMitra  •  Slide 5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Conversational Discovery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Progressive micro-questioning extracts structured profile chips from natural text without overwhelming users with 15-field 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916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“What Am I Missing?” Engine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The core differentiator: quantifies readiness (e.g. 4/6 criteria met) and creates a 1-click bridge to obtain missing certificates.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9164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Government Service Navigator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Step-by-step procedural timelines for public certificates (Income, Domicile, Caste), showing exact fees (₹15), SLAs, and Lekhpal field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Document Intelligence Locker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Digital vault storing credentials with status indicators (Available, Expired, Missing) and simulated preliminary OCR format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404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97764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“Explain This” AI Simplifier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Converts dense gazette orders into: (1) Simple language, (2) Action checklist, (3) Common rejection traps, (4) Official source citation.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84048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97764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Multilingual &amp; Accessible UX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Seamless switching between English &amp; Hindi, voice input simulation, high-contrast readable cards, and mobile-first responsive bottom navigation.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Technical Stack, Evidence-First Trust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Engineered for speed, mathematical correctness, privacy sovereignty, and national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JanMitra  •  Slide 6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D97706"/>
                </a:solidFill>
              </a:defRPr>
            </a:pPr>
            <a:r>
              <a:t>Technical Stack &amp; Architecture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React 18 + TypeScript + Vite + Tailwind CSS</a:t>
            </a:r>
            <a:br/>
            <a:r>
              <a:t>• Deterministic Matching Engine: Real-time rule evaluation (Age, Income, Domicile)</a:t>
            </a:r>
            <a:br/>
            <a:r>
              <a:t>• Constrained Statutory NLP for plain-language translations</a:t>
            </a:r>
            <a:br/>
            <a:r>
              <a:t>• Sub-second latency with responsive mobile-first bottom navigation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512064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D97706"/>
                </a:solidFill>
              </a:defRPr>
            </a:pPr>
            <a:r>
              <a:t>Citizen Data Sovereignty (Privacy-First)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100% Client-Side Local Vault (LocalStorage)</a:t>
            </a:r>
            <a:br/>
            <a:r>
              <a:t>• Zero cloud tracking or monetization of citizen documents</a:t>
            </a:r>
            <a:br/>
            <a:r>
              <a:t>• 1-Click JSON Vault Data Export for citizen records</a:t>
            </a:r>
            <a:br/>
            <a:r>
              <a:t>• Instant complete data wipe button on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D97706"/>
                </a:solidFill>
              </a:defRPr>
            </a:pPr>
            <a:r>
              <a:t>Evidence-First Provenance &amp; Trust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“Why is JanMitra saying this?” expandable audit drawers</a:t>
            </a:r>
            <a:br/>
            <a:r>
              <a:t>• Every claim cites Issuing Department, Gazette Order &amp; Date</a:t>
            </a:r>
            <a:br/>
            <a:r>
              <a:t>• Service Dependency Graph mapping prerequisite chains</a:t>
            </a:r>
            <a:br/>
            <a:r>
              <a:t>• Strict ethical UX: Never falsely claims 'JanMitra approved you'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1965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D97706"/>
                </a:solidFill>
              </a:defRPr>
            </a:pPr>
            <a:r>
              <a:t>Feasibility &amp; India Stack Roadmap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• Phase 1 (Complete): 12 schemes, 8 services, 4 live scenarios</a:t>
            </a:r>
            <a:br/>
            <a:r>
              <a:t>• Phase 2 (DPI Integration): DigiLocker fetch &amp; UMANG registry</a:t>
            </a:r>
            <a:br/>
            <a:r>
              <a:t>• Phase 3 (Assisted Access): CSC / Jan Seva Kendra operator mode</a:t>
            </a:r>
            <a:br/>
            <a:r>
              <a:t>• Zero-Server Overhead: Edge-hosted static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Transforming Public Welfare into an Everyday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031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70%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Drop in Application Rejections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Correct documents prepared before applying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01168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031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₹5 Lakh+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Welfare Unlocked per Family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Cashless healthcare and fee waivers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1031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Evidence-First Transparency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 hallucinated rules or dead URLs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01168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10312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100% Free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Open Civic-Tech Innovation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 cloud tracking of citizen credentials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749039"/>
            <a:ext cx="9966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931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“When public services become as simple to understand as sending a text message, government welfare transforms from an elusive bureaucratic maze into a lived constitutional right for every citizen.”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5778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FDBFE"/>
                </a:solidFill>
              </a:defRPr>
            </a:pPr>
            <a:r>
              <a:t>Live Prototype &amp; Code Repository: https://github.com/samenthamassey127-hue/JanMitra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