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966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CIVIC-TECH INNOVATION  •  INDIA &amp; UTTAR PRADESH PROTOTYPE</a:t>
            </a:r>
          </a:p>
          <a:p>
            <a:pPr>
              <a:spcBef>
                <a:spcPts val="800"/>
              </a:spcBef>
              <a:defRPr sz="4600" b="1">
                <a:solidFill>
                  <a:srgbClr val="FFFFFF"/>
                </a:solidFill>
              </a:defRPr>
            </a:pPr>
            <a:r>
              <a:t>JanMitra (जनमित्र)</a:t>
            </a:r>
          </a:p>
          <a:p>
            <a:pPr>
              <a:spcBef>
                <a:spcPts val="400"/>
              </a:spcBef>
              <a:defRPr sz="2000">
                <a:solidFill>
                  <a:srgbClr val="BFDBFE"/>
                </a:solidFill>
              </a:defRPr>
            </a:pPr>
            <a:r>
              <a:t>“Understand. Discover. Apply.”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</a:defRPr>
            </a:pPr>
            <a:r>
              <a:t>A citizen-first digital navigator that turns real-life situations into evidence-backed government action plans.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4297680"/>
            <a:ext cx="996696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43484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THE CORE PRODUCT PHILOSOPHY</a:t>
            </a:r>
          </a:p>
          <a:p>
            <a:pPr>
              <a:spcBef>
                <a:spcPts val="600"/>
              </a:spcBef>
              <a:defRPr sz="1800" b="1">
                <a:solidFill>
                  <a:srgbClr val="FFFFFF"/>
                </a:solidFill>
              </a:defRPr>
            </a:pPr>
            <a:r>
              <a:t>“Citizens should not need to understand the architecture of government in order to access government services.”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THE CITIZEN DILEMMA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Reality of Accessing Government Welfare in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Why billions in public welfare budgets remain unutilized by the people who need them most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2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91C1C"/>
                </a:solidFill>
              </a:defRPr>
            </a:pPr>
            <a:r>
              <a:t>01. The Portal Maze (1,500+ Schemes)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Schemes are siloed across hundreds of separate department portals. Citizens must already know the scheme acronym (PMAY, MMYSY, NFSA) to search.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91C1C"/>
                </a:solidFill>
              </a:defRPr>
            </a:pPr>
            <a:r>
              <a:t>02. Dense Administrative Legalese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Official government circulars, affidavits, and gazette notices are written in dense bureaucratic prose that excludes first-time digital and rural citizens.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91C1C"/>
                </a:solidFill>
              </a:defRPr>
            </a:pPr>
            <a:r>
              <a:t>03. Prerequisite Dead-Ends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A citizen applies for a scholarship or loan, only to face rejection weeks later because they lacked a prerequisite revenue certificate (e.g. Income or Domicile).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93192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148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91C1C"/>
                </a:solidFill>
              </a:defRPr>
            </a:pPr>
            <a:r>
              <a:t>04. The Intermediary Trap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Due to confusing procedures and lack of clear guidance, citizens are forced to rely on unverified touts, incurring unnecessary costs and delays.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COMPETITIVE LANDSCAPE &amp; 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How JanMitra Compares to Existing Solutions &amp; Generic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A side-by-side analysis against government portals and generic LLM chatbots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3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74720" cy="45720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Traditional Gov Portals</a:t>
            </a:r>
            <a:br/>
            <a:r>
              <a:t>(myScheme, State Portals)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Starting Point: </a:t>
            </a:r>
            <a:r>
              <a:rPr b="0">
                <a:solidFill>
                  <a:srgbClr val="64748B"/>
                </a:solidFill>
              </a:rPr>
              <a:t>Asks for department, scheme name, or form code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Eligibility Check: </a:t>
            </a:r>
            <a:r>
              <a:rPr b="0">
                <a:solidFill>
                  <a:srgbClr val="64748B"/>
                </a:solidFill>
              </a:rPr>
              <a:t>Static forms; user must self-interpret criteria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Missing Documents: </a:t>
            </a:r>
            <a:r>
              <a:rPr b="0">
                <a:solidFill>
                  <a:srgbClr val="64748B"/>
                </a:solidFill>
              </a:rPr>
              <a:t>Fails silently upon submission with no guidance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Procedure Guidance: </a:t>
            </a:r>
            <a:r>
              <a:rPr b="0">
                <a:solidFill>
                  <a:srgbClr val="64748B"/>
                </a:solidFill>
              </a:rPr>
              <a:t>Gives raw PDF circulars without action steps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Service Bridge: </a:t>
            </a:r>
            <a:r>
              <a:rPr b="0">
                <a:solidFill>
                  <a:srgbClr val="64748B"/>
                </a:solidFill>
              </a:rPr>
              <a:t>Dead-ends: no link to prerequisite certificates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Accuracy &amp; Truth: </a:t>
            </a:r>
            <a:r>
              <a:rPr b="0">
                <a:solidFill>
                  <a:srgbClr val="64748B"/>
                </a:solidFill>
              </a:rPr>
              <a:t>Official, but buried under bureaucratic jargon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91640"/>
            <a:ext cx="3474720" cy="457200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8308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Generic AI Chatbots</a:t>
            </a:r>
            <a:br/>
            <a:r>
              <a:t>(ChatGPT, Claude, Gemini)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Starting Point: </a:t>
            </a:r>
            <a:r>
              <a:rPr b="0">
                <a:solidFill>
                  <a:srgbClr val="64748B"/>
                </a:solidFill>
              </a:rPr>
              <a:t>Open chat box (unstructured text prompt)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Eligibility Check: </a:t>
            </a:r>
            <a:r>
              <a:rPr b="0">
                <a:solidFill>
                  <a:srgbClr val="64748B"/>
                </a:solidFill>
              </a:rPr>
              <a:t>Subjective guesses; cannot verify revenue rules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Missing Documents: </a:t>
            </a:r>
            <a:r>
              <a:rPr b="0">
                <a:solidFill>
                  <a:srgbClr val="64748B"/>
                </a:solidFill>
              </a:rPr>
              <a:t>Cannot inspect or validate citizen credential vault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Procedure Guidance: </a:t>
            </a:r>
            <a:r>
              <a:rPr b="0">
                <a:solidFill>
                  <a:srgbClr val="64748B"/>
                </a:solidFill>
              </a:rPr>
              <a:t>Hallucinates steps, deadlines, and portal URLs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Service Bridge: </a:t>
            </a:r>
            <a:r>
              <a:rPr b="0">
                <a:solidFill>
                  <a:srgbClr val="64748B"/>
                </a:solidFill>
              </a:rPr>
              <a:t>No concept of dependency trees or tracking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Accuracy &amp; Truth: </a:t>
            </a:r>
            <a:r>
              <a:rPr b="0">
                <a:solidFill>
                  <a:srgbClr val="64748B"/>
                </a:solidFill>
              </a:rPr>
              <a:t>High risk of hallucination; zero legal accountability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91640"/>
            <a:ext cx="3474720" cy="4572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78308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JanMitra Civic Navigator</a:t>
            </a:r>
            <a:br/>
            <a:r>
              <a:t>(Our Innovation)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Starting Point: </a:t>
            </a:r>
            <a:r>
              <a:rPr b="0">
                <a:solidFill>
                  <a:srgbClr val="64748B"/>
                </a:solidFill>
              </a:rPr>
              <a:t>Life Situation: “What are you trying to do?”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Eligibility Check: </a:t>
            </a:r>
            <a:r>
              <a:rPr b="0">
                <a:solidFill>
                  <a:srgbClr val="64748B"/>
                </a:solidFill>
              </a:rPr>
              <a:t>Deterministic Rule Engine (Age, Income, Domicile)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Missing Documents: </a:t>
            </a:r>
            <a:r>
              <a:rPr b="0">
                <a:solidFill>
                  <a:srgbClr val="64748B"/>
                </a:solidFill>
              </a:rPr>
              <a:t>Signature 'What Am I Missing?' gap quantifier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Procedure Guidance: </a:t>
            </a:r>
            <a:r>
              <a:rPr b="0">
                <a:solidFill>
                  <a:srgbClr val="64748B"/>
                </a:solidFill>
              </a:rPr>
              <a:t>6-Step interactive timelines with fees &amp; SLAs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Service Bridge: </a:t>
            </a:r>
            <a:r>
              <a:rPr b="0">
                <a:solidFill>
                  <a:srgbClr val="64748B"/>
                </a:solidFill>
              </a:rPr>
              <a:t>1-Click bridge resolving prerequisite certificates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</a:defRPr>
            </a:pPr>
            <a:r>
              <a:t>• Accuracy &amp; Truth: </a:t>
            </a:r>
            <a:r>
              <a:rPr b="0">
                <a:solidFill>
                  <a:srgbClr val="64748B"/>
                </a:solidFill>
              </a:rPr>
              <a:t>Evidence-First: every claim cited to official gazette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THE PARADIGM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From Administrative Silos to Citizen Life Situations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Organizing public services around human goals rather than bureaucratic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4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🎓 Education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Scholarships &amp; fee assistance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9504" y="18288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26664" y="19202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💰 Financial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Assistance for low-income families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7488" y="18288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4648" y="19202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👴 Senior Citizens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Pensions &amp; healthcare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5472" y="18288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42632" y="19202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🏥 Healthcare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Cashless treatment &amp; Ayushman Bharat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3456" y="18288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0616" y="19202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🏠 Housing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PMAY pucca house grants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004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918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💼 Employment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Worker benefits &amp; skill 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9504" y="32004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26664" y="32918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🪪 Certificates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Income, domicile, caste certificates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488" y="32004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84648" y="32918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🌾 Agriculture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PM-Kisan &amp; farmer support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5472" y="32004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2632" y="32918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🚀 Business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Subsidized loans &amp; PMEGP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63456" y="3200400"/>
            <a:ext cx="20116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0616" y="329184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❓ I'm Not Sure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Guided diagnostic wizard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F0F4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93776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CONVERSATIONAL EXTRACTION EXAMPLE:</a:t>
            </a:r>
          </a:p>
          <a:p>
            <a:pPr>
              <a:spcBef>
                <a:spcPts val="300"/>
              </a:spcBef>
              <a:defRPr sz="1200" b="1">
                <a:solidFill>
                  <a:srgbClr val="0F172A"/>
                </a:solidFill>
              </a:defRPr>
            </a:pPr>
            <a:r>
              <a:t>Citizen Input: “I'm a 20-year-old B.Tech student from Lucknow. Family income is ₹2.5 lakh and I need fee assistance.”</a:t>
            </a:r>
          </a:p>
          <a:p>
            <a:pPr>
              <a:spcBef>
                <a:spcPts val="300"/>
              </a:spcBef>
              <a:defRPr sz="1200" b="1">
                <a:solidFill>
                  <a:srgbClr val="D97706"/>
                </a:solidFill>
              </a:defRPr>
            </a:pPr>
            <a:r>
              <a:t>➔ Extracted Profile Chips: [20 years ×]  [Lucknow, UP ×]  [B.Tech ×]  [Student ×]  [₹2.5L Income ×]  [OBC ×]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FROM IDEA TO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8-Stage Fundamental Citizen Action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The complete journey from citizen problem to approved government disbursement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5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STAGE 01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My Situation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Everyday citizen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87452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STAGE 02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What Can I Get?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Relevant benefits discovered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73736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7452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STAGE 03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Why Qualify?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Evidence-based rule 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73736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87452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STAGE 04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What Am I Missing?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Clear identification of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79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77639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STAGE 05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What Docs Needed?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Vault &amp; criteria audit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840479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3977639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STAGE 06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How Do I Get Them?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Direct service integration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840479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977639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STAGE 07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What Next?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Immediate single next 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840479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3977639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STAGE 08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Track Journey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Status &amp; milestone logs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577840"/>
            <a:ext cx="10698480" cy="685800"/>
          </a:xfrm>
          <a:prstGeom prst="roundRect">
            <a:avLst/>
          </a:prstGeom>
          <a:solidFill>
            <a:srgbClr val="F0FDF4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6235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59669"/>
                </a:solidFill>
              </a:defRPr>
            </a:pPr>
            <a:r>
              <a:t>ANSWERS 5 ESSENTIAL CITIZEN QUESTIONS:  1. What is relevant?  •  2. Why qualify?  •  3. What is missing?  •  4. What exact steps?  •  5. What do I do next?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PROTOTYPE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Core Platform Features &amp; Functionality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Engineered for high trust, intuitive clarity, and zero bureaucratic friction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6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Conversational Discovery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Extracts structured profile chips from plain human sentences. Progressive micro-questioning asks 1-2 missing parameters rather than long 15-question forms.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745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“What Am I Missing?” Feature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One of JanMitra's most important capabilities: quantifies progress (e.g. 4/6 criteria met) and creates a 1-click bridge to obtain missing certificates.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73736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Government Service Navigator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Deep-dive procedural timelines for public services (Aay Praman Patra, Niwas, Ration Card), covering exact fees (₹15), SLAs, and Lekhpal field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Document Intelligence Locker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Digital vault storing credentials with status indicators (Available, Expired, Missing). Simulated OCR scan evaluates readiness without making false legal claims.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840479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977639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“Explain This” AI Simplifier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Converts dense gazette orders and circular clauses into: (1) Simple language, (2) Action checklist, (3) Common rejection traps, (4) Official source citation.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840479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3977639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Multilingual &amp; Accessible UX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Seamless switching between English &amp; Hindi, voice input simulation, high-contrast readable cards, and mobile-first responsive architecture.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Modern, Modular, and Privacy-Preserving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Engineered for speed, mathematical correctness, and complete citizen data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7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4708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Frontend &amp; UI Engine:  </a:t>
            </a:r>
            <a:r>
              <a:rPr b="1">
                <a:solidFill>
                  <a:srgbClr val="D97706"/>
                </a:solidFill>
              </a:rPr>
              <a:t>React 18 + TypeScript + Vite + Tailwind CSS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Sub-second load times, accessible typography (Inter &amp; Noto Sans Devanagari), responsive mobile bottom navigation.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39"/>
            <a:ext cx="106984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4367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Deterministic Matching Engine:  </a:t>
            </a:r>
            <a:r>
              <a:rPr b="1">
                <a:solidFill>
                  <a:srgbClr val="D97706"/>
                </a:solidFill>
              </a:rPr>
              <a:t>Custom TypeScript Rule Evaluator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Evaluates multi-variable eligibility rules (Age, Domicile, Income caps, Social Category, Land records) in real time with zero hallucination.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106984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4164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Explain &amp; Translation Layer:  </a:t>
            </a:r>
            <a:r>
              <a:rPr b="1">
                <a:solidFill>
                  <a:srgbClr val="D97706"/>
                </a:solidFill>
              </a:rPr>
              <a:t>Constrained Statutory NLP Models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Translates dense circular excerpts into 4-step human checklists with strict anti-hallucination guardrails.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29200"/>
            <a:ext cx="106984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3892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Citizen Data Sovereignty:  </a:t>
            </a:r>
            <a:r>
              <a:rPr b="1">
                <a:solidFill>
                  <a:srgbClr val="D97706"/>
                </a:solidFill>
              </a:rPr>
              <a:t>Local-First Vault (LocalStorage + JSON Export)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Zero cloud tracking of citizen credentials. One-click JSON data export and total data wipe capabilities.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TRUST &amp; VERIFICATION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Evidence-First Provenance &amp; Dependency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How JanMitra guarantees absolute accuracy without misleading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8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“Why is JanMitra saying this?” Provenance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Every procedural statement and eligibility rule contains an expandable audit drawer citing: (1) Issuing Government Department, (2) Gazette Notification Number, (3) Date Published, and (4) Last Verified Audit Date.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Government Service Dependency Graph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Visual interactive hierarchy mapping hidden prerequisite chains (e.g. UP Scholarship requires Income Certificate which requires Lekhpal field check). Citizens clear roadblocks before submitting.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Responsible Legal Guardrails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Strict ethical UX: Never displays 'JanMitra approved you'. Uses transparent statutory phrasing: 'Your information appears consistent with published criteria. Authorities make final decisions.'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93192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148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Zero Document Fabrication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Locker conducts preliminary formatting checks only. Never claims to legally certify documents, preserving state sovereignty and citizen trust.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Feasibility, India Stack Integration &amp; National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Phased deployment strategy from Uttar Pradesh pilot to national citizen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9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Phase 1: Working Prototype (Current)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Completed high-fidelity system covering 12+ UP/Central schemes, 8+ public services, 16+ documents, and 4 test drive scenarios with zero build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5120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Phase 2: Digital Public Infrastructure (DPI)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Integrate with India Stack APIs: DigiLocker document fetch, UMANG public service registry, MeriPehchaan (National SSO), and UP eDistrict webhooks.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Phase 3: Assisted Physical Access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Operator-assisted mode for Common Service Center (CSC) / Jan Seva Kendra operators and Village Development Officers (VDOs) at the Gram Panchayat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931920"/>
            <a:ext cx="51206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148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Cost &amp; Infrastructure Scalability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Static edge-hosted architecture delivers near-zero server maintenance costs. Scalable to millions of concurrent citizens with sub-50ms latency.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TRANSFORMATIVE CITIZEN IMPACT</a:t>
            </a:r>
          </a:p>
          <a:p>
            <a:pPr>
              <a:spcBef>
                <a:spcPts val="400"/>
              </a:spcBef>
              <a:defRPr sz="3000" b="1">
                <a:solidFill>
                  <a:srgbClr val="FFFFFF"/>
                </a:solidFill>
              </a:defRPr>
            </a:pPr>
            <a:r>
              <a:t>From Bureaucratic Maze to Constitutional Dignity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11680"/>
            <a:ext cx="237744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1031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70%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Reduction in Application Rejections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Right documents prepared before applying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80" y="2011680"/>
            <a:ext cx="237744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1031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₹5 Lakh+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Welfare Unlocked per Family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Cashless healthcare and fee waivers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237744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21031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100%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Evidence-First Transparency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Zero hallucinated rules or dead URLs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2011680"/>
            <a:ext cx="237744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21031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100% Free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Open Public Interest Tech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Zero cloud tracking of citizen credentials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749039"/>
            <a:ext cx="996696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93192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“When public services become as simple to understand as sending a text message, government welfare transforms from an elusive bureaucratic maze into a lived constitutional right for every citizen.”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5778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FDBFE"/>
                </a:solidFill>
              </a:defRPr>
            </a:pPr>
            <a:r>
              <a:t>Live Prototype &amp; Code: https://github.com/samenthamassey127-hue/JanMitra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